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sldIdLst>
    <p:sldId id="256" r:id="rId2"/>
    <p:sldId id="257" r:id="rId3"/>
    <p:sldId id="258" r:id="rId4"/>
    <p:sldId id="265" r:id="rId5"/>
    <p:sldId id="259" r:id="rId6"/>
    <p:sldId id="267" r:id="rId7"/>
    <p:sldId id="266" r:id="rId8"/>
    <p:sldId id="269" r:id="rId9"/>
    <p:sldId id="260" r:id="rId10"/>
    <p:sldId id="268" r:id="rId11"/>
    <p:sldId id="261" r:id="rId12"/>
    <p:sldId id="262" r:id="rId13"/>
    <p:sldId id="270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794" y="318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1299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65234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50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2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2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5989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9330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4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33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o">
            <a:extLst>
              <a:ext uri="{FF2B5EF4-FFF2-40B4-BE49-F238E27FC236}">
                <a16:creationId xmlns:a16="http://schemas.microsoft.com/office/drawing/2014/main" id="{6D3A8D7E-F58D-0186-C156-CB957BF2C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8" r="13974" b="-1"/>
          <a:stretch>
            <a:fillRect/>
          </a:stretch>
        </p:blipFill>
        <p:spPr>
          <a:xfrm>
            <a:off x="20" y="10"/>
            <a:ext cx="9143980" cy="6859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3867FC-EB8E-4B00-B7D5-7967D9DF1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D69E00ED-B0F1-4570-A74E-E05D0E9A8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4643" y="744469"/>
            <a:ext cx="2456751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074D0BE7-DDD8-46AB-A2C1-5B7FFD921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113971" y="1685652"/>
            <a:ext cx="2456260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1" cy="2098226"/>
          </a:xfrm>
        </p:spPr>
        <p:txBody>
          <a:bodyPr>
            <a:normAutofit/>
          </a:bodyPr>
          <a:lstStyle/>
          <a:p>
            <a:r>
              <a:rPr lang="pt-BR" sz="4700" noProof="0"/>
              <a:t>NPS Preditivo — Tech </a:t>
            </a:r>
            <a:r>
              <a:rPr lang="pt-BR" sz="4700" noProof="0" err="1"/>
              <a:t>Challenge</a:t>
            </a:r>
            <a:r>
              <a:rPr lang="pt-BR" sz="4700" noProof="0"/>
              <a:t> Fase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29" y="3956279"/>
            <a:ext cx="5123755" cy="108623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noProof="0" dirty="0">
                <a:solidFill>
                  <a:srgbClr val="191B0E"/>
                </a:solidFill>
              </a:rPr>
              <a:t>E-commerce: da operação à experiência do cliente</a:t>
            </a:r>
          </a:p>
          <a:p>
            <a:pPr>
              <a:spcAft>
                <a:spcPts val="600"/>
              </a:spcAft>
            </a:pPr>
            <a:r>
              <a:rPr lang="pt-BR" b="1" i="1" noProof="0" dirty="0">
                <a:solidFill>
                  <a:srgbClr val="191B0E"/>
                </a:solidFill>
              </a:rPr>
              <a:t>FIAP</a:t>
            </a:r>
            <a:r>
              <a:rPr lang="pt-BR" b="1" i="1" dirty="0">
                <a:solidFill>
                  <a:srgbClr val="191B0E"/>
                </a:solidFill>
              </a:rPr>
              <a:t> – Raphael Reis – 01.05.2026</a:t>
            </a:r>
            <a:endParaRPr lang="pt-BR" noProof="0" dirty="0">
              <a:solidFill>
                <a:srgbClr val="191B0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60336"/>
            <a:ext cx="6172200" cy="1143000"/>
          </a:xfrm>
        </p:spPr>
        <p:txBody>
          <a:bodyPr>
            <a:normAutofit/>
          </a:bodyPr>
          <a:lstStyle/>
          <a:p>
            <a:pPr algn="ctr"/>
            <a:r>
              <a:rPr lang="pt-BR" noProof="0" dirty="0"/>
              <a:t>Contexto do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269" y="1166018"/>
            <a:ext cx="7123262" cy="4525963"/>
          </a:xfrm>
        </p:spPr>
        <p:txBody>
          <a:bodyPr/>
          <a:lstStyle/>
          <a:p>
            <a:pPr>
              <a:defRPr sz="2000"/>
            </a:pPr>
            <a:r>
              <a:rPr lang="pt-BR" noProof="0" dirty="0"/>
              <a:t>E-commerce em crescimento: mais pedidos, entregas e interações.</a:t>
            </a:r>
          </a:p>
          <a:p>
            <a:pPr>
              <a:defRPr sz="2000"/>
            </a:pPr>
            <a:r>
              <a:rPr lang="pt-BR" noProof="0" dirty="0"/>
              <a:t>NPS varia muito entre clientes — e a pesquisa só vem no fim da jornada.</a:t>
            </a:r>
          </a:p>
          <a:p>
            <a:pPr>
              <a:defRPr sz="2000"/>
            </a:pPr>
            <a:r>
              <a:rPr lang="pt-BR" noProof="0" dirty="0"/>
              <a:t>Consequência: a empresa reage tarde; queremos antecipar problemas.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424" y="174507"/>
            <a:ext cx="7814893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Perguntas que orientam a análise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391" y="1263771"/>
            <a:ext cx="8123926" cy="4525963"/>
          </a:xfrm>
        </p:spPr>
        <p:txBody>
          <a:bodyPr/>
          <a:lstStyle/>
          <a:p>
            <a:pPr>
              <a:defRPr sz="2000"/>
            </a:pPr>
            <a:r>
              <a:rPr lang="pt-BR" noProof="0" dirty="0"/>
              <a:t>Quais fatores operacionais mais explicam o NPS?</a:t>
            </a:r>
          </a:p>
          <a:p>
            <a:pPr>
              <a:defRPr sz="2000"/>
            </a:pPr>
            <a:r>
              <a:rPr lang="pt-BR" noProof="0" dirty="0"/>
              <a:t>Onde estão os detratores e qual o “ponto de ruptura” da experiência?</a:t>
            </a:r>
          </a:p>
          <a:p>
            <a:pPr>
              <a:defRPr sz="2000"/>
            </a:pPr>
            <a:r>
              <a:rPr lang="pt-BR" noProof="0" dirty="0"/>
              <a:t>(Complemento) Qual pedido tem maior risco de NPS baixo antes da pesquisa?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7AE3-24DC-E0E5-90F8-08282B66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C86A-F50D-7317-70C8-986E4404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C5E78-EE57-D9C0-35B8-D76938386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8" y="1375477"/>
            <a:ext cx="7858447" cy="1358198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noProof="0" dirty="0"/>
              <a:t>Base com ~2.500 pedidos: </a:t>
            </a:r>
          </a:p>
          <a:p>
            <a:pPr lvl="1">
              <a:defRPr sz="2000"/>
            </a:pPr>
            <a:r>
              <a:rPr lang="pt-BR" noProof="0" dirty="0"/>
              <a:t>NPS médio baixo;</a:t>
            </a:r>
          </a:p>
          <a:p>
            <a:pPr lvl="1">
              <a:defRPr sz="2000"/>
            </a:pPr>
            <a:r>
              <a:rPr lang="pt-BR" noProof="0" dirty="0"/>
              <a:t>Predominância de detratores na escala de 0 a 10.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D34593-735C-EB69-0E4F-CAC8307E0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29" y="2612470"/>
            <a:ext cx="4377450" cy="21309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852B777-A179-BC2E-F84D-A15D533A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02" y="3725314"/>
            <a:ext cx="3925699" cy="2566286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246FF9A-34AD-0A00-3683-C8D3F1ED4B6F}"/>
              </a:ext>
            </a:extLst>
          </p:cNvPr>
          <p:cNvCxnSpPr/>
          <p:nvPr/>
        </p:nvCxnSpPr>
        <p:spPr>
          <a:xfrm>
            <a:off x="5076502" y="2990850"/>
            <a:ext cx="733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A16B922D-7CE7-78A2-7A0C-ABD3272CBD27}"/>
              </a:ext>
            </a:extLst>
          </p:cNvPr>
          <p:cNvCxnSpPr>
            <a:cxnSpLocks/>
          </p:cNvCxnSpPr>
          <p:nvPr/>
        </p:nvCxnSpPr>
        <p:spPr>
          <a:xfrm flipH="1">
            <a:off x="4197948" y="5558722"/>
            <a:ext cx="748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9BA1781-4ADB-BA3C-B839-926634608554}"/>
              </a:ext>
            </a:extLst>
          </p:cNvPr>
          <p:cNvSpPr txBox="1"/>
          <p:nvPr/>
        </p:nvSpPr>
        <p:spPr>
          <a:xfrm>
            <a:off x="5932353" y="2806184"/>
            <a:ext cx="2030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NPS Médio = 4,38</a:t>
            </a: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D469371E-8464-E225-8B5D-A7B2FE1B3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852557"/>
              </p:ext>
            </p:extLst>
          </p:nvPr>
        </p:nvGraphicFramePr>
        <p:xfrm>
          <a:off x="1714500" y="4956742"/>
          <a:ext cx="2352998" cy="12039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76499">
                  <a:extLst>
                    <a:ext uri="{9D8B030D-6E8A-4147-A177-3AD203B41FA5}">
                      <a16:colId xmlns:a16="http://schemas.microsoft.com/office/drawing/2014/main" val="3644166253"/>
                    </a:ext>
                  </a:extLst>
                </a:gridCol>
                <a:gridCol w="1176499">
                  <a:extLst>
                    <a:ext uri="{9D8B030D-6E8A-4147-A177-3AD203B41FA5}">
                      <a16:colId xmlns:a16="http://schemas.microsoft.com/office/drawing/2014/main" val="430953295"/>
                    </a:ext>
                  </a:extLst>
                </a:gridCol>
              </a:tblGrid>
              <a:tr h="2447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effectLst/>
                        </a:rPr>
                        <a:t>Categoria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effectLst/>
                        </a:rPr>
                        <a:t>Quantidade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18441413"/>
                  </a:ext>
                </a:extLst>
              </a:tr>
              <a:tr h="24477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Detratores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2109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501540868"/>
                  </a:ext>
                </a:extLst>
              </a:tr>
              <a:tr h="24477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Neutros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281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869073880"/>
                  </a:ext>
                </a:extLst>
              </a:tr>
              <a:tr h="24477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Promotores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110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443633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58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228" y="1375476"/>
            <a:ext cx="7858447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noProof="0" dirty="0"/>
              <a:t>Atraso na entrega: </a:t>
            </a:r>
          </a:p>
          <a:p>
            <a:pPr lvl="1">
              <a:defRPr sz="2000"/>
            </a:pPr>
            <a:r>
              <a:rPr lang="pt-BR" noProof="0" dirty="0"/>
              <a:t>Quando não há atraso, a nota média é muito maior; </a:t>
            </a:r>
          </a:p>
          <a:p>
            <a:pPr lvl="1">
              <a:defRPr sz="2000"/>
            </a:pPr>
            <a:r>
              <a:rPr lang="pt-BR" noProof="0" dirty="0"/>
              <a:t>Com 4+ dias de atraso, a nota despenca.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9E3E79-2908-EAE8-8BDA-0141FFC88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157" y="2800350"/>
            <a:ext cx="6545135" cy="3200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91C78-16F0-1411-AFE2-00422907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1B2D-D5A0-7FCC-28EC-2EA804D3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FB212-D04C-9121-DBD4-CAD088EC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8" y="1375476"/>
            <a:ext cx="7858447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noProof="0" dirty="0"/>
              <a:t>Reclamações e contatos com atendimento acompanham queda forte do NPS.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C1848E-532D-F9F7-10B0-B55B21769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16" y="2278812"/>
            <a:ext cx="7725256" cy="271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98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FA057-2AD0-C0AF-2073-30EC0A0F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CDCB-D170-867B-0326-C902DB1C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DF17-3E5B-4A9D-0DD3-6DD78A0CD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8" y="1375476"/>
            <a:ext cx="8306122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noProof="0" dirty="0"/>
              <a:t>Regiões: </a:t>
            </a:r>
          </a:p>
          <a:p>
            <a:pPr lvl="1">
              <a:defRPr sz="2000"/>
            </a:pPr>
            <a:r>
              <a:rPr lang="pt-BR" noProof="0" dirty="0"/>
              <a:t>Pouca diferença entre regiões.</a:t>
            </a:r>
          </a:p>
          <a:p>
            <a:pPr lvl="1">
              <a:defRPr sz="2000"/>
            </a:pPr>
            <a:r>
              <a:rPr lang="pt-BR" noProof="0" dirty="0"/>
              <a:t>O gargalo </a:t>
            </a:r>
            <a:r>
              <a:rPr lang="pt-BR" dirty="0"/>
              <a:t>está mais ligada a </a:t>
            </a:r>
            <a:r>
              <a:rPr lang="pt-BR" noProof="0" dirty="0"/>
              <a:t>execução de modo geral, não localizado em regiões.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358F9AB-FB68-3303-00E1-416B9DCD3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2457289" y="3000952"/>
            <a:ext cx="4572000" cy="32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7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5F83-F5F9-1A42-673B-6D6423E9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AE01-DCB4-4F40-88C7-FDB74ECF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0A45C-4A54-CEE6-A809-9E2956639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8" y="1375476"/>
            <a:ext cx="8306122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dirty="0"/>
              <a:t>Onde a experiência quebra:</a:t>
            </a:r>
          </a:p>
          <a:p>
            <a:pPr lvl="1">
              <a:defRPr sz="2000"/>
            </a:pPr>
            <a:r>
              <a:rPr lang="pt-BR" noProof="0" dirty="0"/>
              <a:t>A combinação de mais de 3 reclamações e mais de 4 dias de atraso mostra claramente o impacto no NPS.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27509B-2D77-0A21-69E4-0674D22E5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392" y="2686050"/>
            <a:ext cx="6623794" cy="368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690" y="171450"/>
            <a:ext cx="8604310" cy="1143000"/>
          </a:xfrm>
        </p:spPr>
        <p:txBody>
          <a:bodyPr>
            <a:normAutofit/>
          </a:bodyPr>
          <a:lstStyle/>
          <a:p>
            <a:pPr algn="ctr"/>
            <a:r>
              <a:rPr lang="pt-BR" sz="3600" noProof="0" dirty="0"/>
              <a:t>Fatores que mais impactam a satisfação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826" y="1505310"/>
            <a:ext cx="8134710" cy="4525963"/>
          </a:xfrm>
        </p:spPr>
        <p:txBody>
          <a:bodyPr/>
          <a:lstStyle/>
          <a:p>
            <a:pPr>
              <a:defRPr sz="2000"/>
            </a:pPr>
            <a:r>
              <a:rPr lang="pt-BR" noProof="0" dirty="0"/>
              <a:t>CSAT interno acompanha o NPS — bom alinhamento de indicadores, mas grande dispersão: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E6D82C-BEF3-58E2-3F06-6EAD5484D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231" y="2297834"/>
            <a:ext cx="4762499" cy="392429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73F90CD-0D3D-6D24-4BAA-B35774D0A819}"/>
              </a:ext>
            </a:extLst>
          </p:cNvPr>
          <p:cNvSpPr txBox="1"/>
          <p:nvPr/>
        </p:nvSpPr>
        <p:spPr>
          <a:xfrm>
            <a:off x="689979" y="2891128"/>
            <a:ext cx="3238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 dois indicadores caminham juntos na maior parte dos casos, mas não são a mesma coisa — por isso precisamos dos dois e de um melhor entendimento da operação.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24F9-ADCA-645B-0FB1-B15FAF2F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9E095-E953-1B02-2AD5-1B957F185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90" y="171450"/>
            <a:ext cx="8604310" cy="1143000"/>
          </a:xfrm>
        </p:spPr>
        <p:txBody>
          <a:bodyPr>
            <a:normAutofit/>
          </a:bodyPr>
          <a:lstStyle/>
          <a:p>
            <a:pPr algn="ctr"/>
            <a:r>
              <a:rPr lang="pt-BR" sz="3600" noProof="0" dirty="0"/>
              <a:t>Fatores que mais impactam a satisfação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E23A3-4847-118C-7423-CE73E7660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01" y="1505310"/>
            <a:ext cx="2867924" cy="4714515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lang="pt-BR" b="1" noProof="0" dirty="0"/>
              <a:t>Resumo analítico</a:t>
            </a:r>
            <a:r>
              <a:rPr lang="pt-BR" noProof="0" dirty="0"/>
              <a:t>:</a:t>
            </a:r>
            <a:br>
              <a:rPr lang="pt-BR" noProof="0" dirty="0"/>
            </a:br>
            <a:br>
              <a:rPr lang="pt-BR" noProof="0" dirty="0"/>
            </a:br>
            <a:r>
              <a:rPr lang="pt-BR" noProof="0" dirty="0"/>
              <a:t>Principais variáveis negativas:</a:t>
            </a:r>
          </a:p>
          <a:p>
            <a:pPr lvl="1">
              <a:defRPr sz="2000"/>
            </a:pPr>
            <a:r>
              <a:rPr lang="pt-BR" sz="1800" dirty="0"/>
              <a:t>Dias para entrega</a:t>
            </a:r>
          </a:p>
          <a:p>
            <a:pPr lvl="1">
              <a:defRPr sz="2000"/>
            </a:pPr>
            <a:r>
              <a:rPr lang="pt-BR" sz="1800" noProof="0" dirty="0"/>
              <a:t>Contatos com o serviço ao cliente</a:t>
            </a:r>
          </a:p>
          <a:p>
            <a:pPr lvl="1">
              <a:defRPr sz="2000"/>
            </a:pPr>
            <a:r>
              <a:rPr lang="pt-BR" sz="1800" dirty="0"/>
              <a:t>Dias para resolução.</a:t>
            </a:r>
          </a:p>
          <a:p>
            <a:pPr lvl="1">
              <a:defRPr sz="2000"/>
            </a:pPr>
            <a:r>
              <a:rPr lang="pt-BR" sz="1800" noProof="0" dirty="0"/>
              <a:t>Contagem de reclamações.</a:t>
            </a:r>
          </a:p>
          <a:p>
            <a:pPr>
              <a:defRPr sz="2000"/>
            </a:pPr>
            <a:endParaRPr lang="pt-BR" sz="1800" dirty="0"/>
          </a:p>
          <a:p>
            <a:pPr>
              <a:defRPr sz="2000"/>
            </a:pPr>
            <a:r>
              <a:rPr lang="pt-BR" sz="1800" dirty="0"/>
              <a:t>Diversas variáveis não tiveram influência em NPS e CSAT.</a:t>
            </a:r>
            <a:endParaRPr lang="pt-BR" sz="1800" noProof="0" dirty="0"/>
          </a:p>
          <a:p>
            <a:pPr lvl="1">
              <a:defRPr sz="2000"/>
            </a:pPr>
            <a:endParaRPr lang="pt-BR" noProof="0" dirty="0"/>
          </a:p>
          <a:p>
            <a:pPr lvl="1">
              <a:defRPr sz="2000"/>
            </a:pPr>
            <a:endParaRPr lang="pt-BR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5BB6D2-F0CA-0D69-DB73-A5B33287B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133" y="1261699"/>
            <a:ext cx="5894617" cy="51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5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0"/>
            <a:ext cx="6172200" cy="1143000"/>
          </a:xfrm>
        </p:spPr>
        <p:txBody>
          <a:bodyPr>
            <a:normAutofit/>
          </a:bodyPr>
          <a:lstStyle/>
          <a:p>
            <a:r>
              <a:rPr lang="pt-BR" noProof="0"/>
              <a:t>Recomendações práticas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496" y="1600201"/>
            <a:ext cx="8249009" cy="4525963"/>
          </a:xfrm>
        </p:spPr>
        <p:txBody>
          <a:bodyPr/>
          <a:lstStyle/>
          <a:p>
            <a:pPr>
              <a:defRPr sz="2000"/>
            </a:pPr>
            <a:r>
              <a:rPr lang="pt-BR" noProof="0"/>
              <a:t>Plano de ação para atraso ≥ 4 dias: comunicação proativa + compensação.</a:t>
            </a:r>
          </a:p>
          <a:p>
            <a:pPr>
              <a:defRPr sz="2000"/>
            </a:pPr>
            <a:r>
              <a:rPr lang="pt-BR" noProof="0" dirty="0"/>
              <a:t>Priorizar root-cause de reclamações:</a:t>
            </a:r>
          </a:p>
          <a:p>
            <a:pPr lvl="1">
              <a:defRPr sz="2000"/>
            </a:pPr>
            <a:r>
              <a:rPr lang="pt-BR" noProof="0" dirty="0"/>
              <a:t>Embalagem.</a:t>
            </a:r>
          </a:p>
          <a:p>
            <a:pPr lvl="1">
              <a:defRPr sz="2000"/>
            </a:pPr>
            <a:r>
              <a:rPr lang="pt-BR" noProof="0" dirty="0"/>
              <a:t>Transportadora.</a:t>
            </a:r>
          </a:p>
          <a:p>
            <a:pPr lvl="1">
              <a:defRPr sz="2000"/>
            </a:pPr>
            <a:r>
              <a:rPr lang="pt-BR" noProof="0" dirty="0"/>
              <a:t>Promessa.</a:t>
            </a:r>
          </a:p>
          <a:p>
            <a:pPr lvl="1">
              <a:defRPr sz="2000"/>
            </a:pPr>
            <a:r>
              <a:rPr lang="pt-BR" noProof="0" dirty="0"/>
              <a:t>Produto</a:t>
            </a:r>
          </a:p>
          <a:p>
            <a:pPr>
              <a:defRPr sz="2000"/>
            </a:pPr>
            <a:r>
              <a:rPr lang="pt-BR" noProof="0" dirty="0"/>
              <a:t>Reduzir necessidade de contato: rastreio claro e expectativa de prazo.</a:t>
            </a:r>
          </a:p>
          <a:p>
            <a:pPr>
              <a:defRPr sz="2000"/>
            </a:pPr>
            <a:r>
              <a:rPr lang="pt-BR" noProof="0" dirty="0"/>
              <a:t>Pilotar fila de risco com score preditivo antes da pesquisa NPS.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275" y="0"/>
            <a:ext cx="7511451" cy="1143000"/>
          </a:xfrm>
        </p:spPr>
        <p:txBody>
          <a:bodyPr>
            <a:normAutofit/>
          </a:bodyPr>
          <a:lstStyle/>
          <a:p>
            <a:r>
              <a:rPr lang="pt-BR" noProof="0" dirty="0"/>
              <a:t>Modelo preditivo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540" y="1246519"/>
            <a:ext cx="4867635" cy="429882"/>
          </a:xfrm>
        </p:spPr>
        <p:txBody>
          <a:bodyPr/>
          <a:lstStyle/>
          <a:p>
            <a:pPr>
              <a:defRPr sz="2000"/>
            </a:pPr>
            <a:r>
              <a:rPr lang="pt-BR" b="1" i="1" dirty="0"/>
              <a:t>Mapa de prioridades do modelo</a:t>
            </a:r>
            <a:endParaRPr lang="pt-BR" noProof="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906637F-C0FD-E253-8235-18884CCEF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40" y="1757605"/>
            <a:ext cx="5010510" cy="309249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F81420E-C21D-4479-414F-F0A5411601D5}"/>
              </a:ext>
            </a:extLst>
          </p:cNvPr>
          <p:cNvSpPr txBox="1"/>
          <p:nvPr/>
        </p:nvSpPr>
        <p:spPr>
          <a:xfrm>
            <a:off x="3733800" y="5033817"/>
            <a:ext cx="51057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 i="1" dirty="0">
                <a:effectLst/>
                <a:latin typeface="Segoe WPC"/>
              </a:rPr>
              <a:t>Este gráfico mostra </a:t>
            </a:r>
            <a:r>
              <a:rPr lang="pt-BR" b="1" i="1" dirty="0">
                <a:effectLst/>
                <a:latin typeface="Segoe WPC"/>
              </a:rPr>
              <a:t>o que o modelo usa mais</a:t>
            </a:r>
            <a:r>
              <a:rPr lang="pt-BR" b="0" i="1" dirty="0">
                <a:effectLst/>
                <a:latin typeface="Segoe WPC"/>
              </a:rPr>
              <a:t> para estimar o NPS: principalmente sinais de </a:t>
            </a:r>
            <a:r>
              <a:rPr lang="pt-BR" b="1" i="1" dirty="0">
                <a:effectLst/>
                <a:latin typeface="Segoe WPC"/>
              </a:rPr>
              <a:t>problema na jornada</a:t>
            </a:r>
            <a:r>
              <a:rPr lang="pt-BR" b="0" i="1" dirty="0">
                <a:effectLst/>
                <a:latin typeface="Segoe WPC"/>
              </a:rPr>
              <a:t> (atraso, reclamações) e também variáveis que </a:t>
            </a:r>
            <a:r>
              <a:rPr lang="pt-BR" b="1" i="1" dirty="0">
                <a:effectLst/>
                <a:latin typeface="Segoe WPC"/>
              </a:rPr>
              <a:t>andam muito juntas</a:t>
            </a:r>
            <a:r>
              <a:rPr lang="pt-BR" b="0" i="1" dirty="0">
                <a:effectLst/>
                <a:latin typeface="Segoe WPC"/>
              </a:rPr>
              <a:t> com o resultado, como a </a:t>
            </a:r>
            <a:r>
              <a:rPr lang="pt-BR" b="1" i="1" dirty="0">
                <a:effectLst/>
                <a:latin typeface="Segoe WPC"/>
              </a:rPr>
              <a:t>recompra recente.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5A96A-A7AB-79FE-68DB-5955DCBD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DAD9-C868-AB34-CAEA-BCC9426B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75" y="0"/>
            <a:ext cx="7511451" cy="1143000"/>
          </a:xfrm>
        </p:spPr>
        <p:txBody>
          <a:bodyPr>
            <a:normAutofit/>
          </a:bodyPr>
          <a:lstStyle/>
          <a:p>
            <a:r>
              <a:rPr lang="pt-BR" noProof="0" dirty="0"/>
              <a:t>Modelo preditivo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A60B-12B4-8DBA-8307-7A51FEDE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540" y="1246518"/>
            <a:ext cx="7696919" cy="4525963"/>
          </a:xfrm>
        </p:spPr>
        <p:txBody>
          <a:bodyPr/>
          <a:lstStyle/>
          <a:p>
            <a:pPr>
              <a:defRPr sz="2000"/>
            </a:pPr>
            <a:r>
              <a:rPr lang="pt-BR" noProof="0" dirty="0"/>
              <a:t>Usa dados de pedido, logística e atendimento para estimar o NPS.</a:t>
            </a:r>
          </a:p>
          <a:p>
            <a:pPr>
              <a:defRPr sz="2000"/>
            </a:pPr>
            <a:r>
              <a:rPr lang="pt-BR" noProof="0" dirty="0"/>
              <a:t>Ajuda a priorizar onde logística e SAC agem antes da pesquisa.</a:t>
            </a:r>
          </a:p>
          <a:p>
            <a:pPr>
              <a:defRPr sz="2000"/>
            </a:pPr>
            <a:r>
              <a:rPr lang="pt-BR" noProof="0" dirty="0"/>
              <a:t>Variáveis mais relevantes: atraso, reclamações e sinais de fricção no atendimento.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958369-66DA-3BCE-4D91-ABF5235A0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84" y="2767023"/>
            <a:ext cx="3536831" cy="35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78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0"/>
            <a:ext cx="6172200" cy="1143000"/>
          </a:xfrm>
        </p:spPr>
        <p:txBody>
          <a:bodyPr/>
          <a:lstStyle/>
          <a:p>
            <a:r>
              <a:rPr lang="pt-BR" noProof="0"/>
              <a:t>Limitações e riscos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737" y="1600201"/>
            <a:ext cx="8352526" cy="4525963"/>
          </a:xfrm>
        </p:spPr>
        <p:txBody>
          <a:bodyPr/>
          <a:lstStyle/>
          <a:p>
            <a:pPr>
              <a:defRPr sz="2000"/>
            </a:pPr>
            <a:r>
              <a:rPr lang="pt-BR" noProof="0"/>
              <a:t>Correlação não implica causa: validar com pilotos e experimentos.</a:t>
            </a:r>
          </a:p>
          <a:p>
            <a:pPr>
              <a:defRPr sz="2000"/>
            </a:pPr>
            <a:r>
              <a:rPr lang="pt-BR" noProof="0" dirty="0"/>
              <a:t>Modelo pode mudar com sazonalidade, greves ou mudança de transportadora.</a:t>
            </a:r>
          </a:p>
          <a:p>
            <a:pPr>
              <a:defRPr sz="2000"/>
            </a:pPr>
            <a:r>
              <a:rPr lang="pt-BR" noProof="0" dirty="0"/>
              <a:t>Uso responsável: apoio à decisão, não punição automática de times ou clientes.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0"/>
            <a:ext cx="6172200" cy="1143000"/>
          </a:xfrm>
        </p:spPr>
        <p:txBody>
          <a:bodyPr/>
          <a:lstStyle/>
          <a:p>
            <a:r>
              <a:rPr lang="pt-BR" noProof="0"/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521" y="1181820"/>
            <a:ext cx="8688957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Inserir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 as </a:t>
            </a:r>
            <a:r>
              <a:rPr dirty="0" err="1"/>
              <a:t>figuras</a:t>
            </a:r>
            <a:r>
              <a:rPr dirty="0"/>
              <a:t> da pasta reports/ (</a:t>
            </a:r>
            <a:r>
              <a:rPr dirty="0" err="1"/>
              <a:t>gráficos</a:t>
            </a:r>
            <a:r>
              <a:rPr dirty="0"/>
              <a:t> da EDA e do </a:t>
            </a:r>
            <a:r>
              <a:rPr dirty="0" err="1"/>
              <a:t>modelo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piloto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região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categoria</a:t>
            </a:r>
            <a:r>
              <a:rPr dirty="0"/>
              <a:t> e </a:t>
            </a:r>
            <a:r>
              <a:rPr dirty="0" err="1"/>
              <a:t>acompanhar</a:t>
            </a:r>
            <a:r>
              <a:rPr dirty="0"/>
              <a:t> NPS real vs </a:t>
            </a:r>
            <a:r>
              <a:rPr dirty="0" err="1"/>
              <a:t>predito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Alinhar</a:t>
            </a:r>
            <a:r>
              <a:rPr dirty="0"/>
              <a:t> OKRs de </a:t>
            </a:r>
            <a:r>
              <a:rPr dirty="0" err="1"/>
              <a:t>logística</a:t>
            </a:r>
            <a:r>
              <a:rPr dirty="0"/>
              <a:t> e SAC </a:t>
            </a:r>
            <a:r>
              <a:rPr dirty="0" err="1"/>
              <a:t>às</a:t>
            </a:r>
            <a:r>
              <a:rPr dirty="0"/>
              <a:t> </a:t>
            </a:r>
            <a:r>
              <a:rPr dirty="0" err="1"/>
              <a:t>alavancas</a:t>
            </a:r>
            <a:r>
              <a:rPr dirty="0"/>
              <a:t> </a:t>
            </a:r>
            <a:r>
              <a:rPr dirty="0" err="1"/>
              <a:t>identificadas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2022</TotalTime>
  <Words>563</Words>
  <Application>Microsoft Office PowerPoint</Application>
  <PresentationFormat>Apresentação na tela (4:3)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Franklin Gothic Book</vt:lpstr>
      <vt:lpstr>Segoe WPC</vt:lpstr>
      <vt:lpstr>Cortar</vt:lpstr>
      <vt:lpstr>NPS Preditivo — Tech Challenge Fase 1</vt:lpstr>
      <vt:lpstr>Contexto do problema</vt:lpstr>
      <vt:lpstr>Perguntas que orientam a análise</vt:lpstr>
      <vt:lpstr>Principais insights da EDA</vt:lpstr>
      <vt:lpstr>Principais insights da EDA</vt:lpstr>
      <vt:lpstr>Principais insights da EDA</vt:lpstr>
      <vt:lpstr>Principais insights da EDA</vt:lpstr>
      <vt:lpstr>Principais insights da EDA</vt:lpstr>
      <vt:lpstr>Fatores que mais impactam a satisfação</vt:lpstr>
      <vt:lpstr>Fatores que mais impactam a satisfação</vt:lpstr>
      <vt:lpstr>Recomendações práticas</vt:lpstr>
      <vt:lpstr>Modelo preditivo</vt:lpstr>
      <vt:lpstr>Modelo preditivo</vt:lpstr>
      <vt:lpstr>Limitações e riscos</vt:lpstr>
      <vt:lpstr>Próximos passos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Raphael Reis</dc:creator>
  <cp:keywords/>
  <dc:description>generated using python-pptx</dc:description>
  <cp:lastModifiedBy>Raphael Reis</cp:lastModifiedBy>
  <cp:revision>5</cp:revision>
  <dcterms:created xsi:type="dcterms:W3CDTF">2013-01-27T09:14:16Z</dcterms:created>
  <dcterms:modified xsi:type="dcterms:W3CDTF">2026-05-05T23:13:33Z</dcterms:modified>
  <cp:category/>
</cp:coreProperties>
</file>