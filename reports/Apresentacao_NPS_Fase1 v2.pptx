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60" r:id="rId1"/>
  </p:sldMasterIdLst>
  <p:sldIdLst>
    <p:sldId id="256" r:id="rId2"/>
    <p:sldId id="257" r:id="rId3"/>
    <p:sldId id="258" r:id="rId4"/>
    <p:sldId id="265" r:id="rId5"/>
    <p:sldId id="259" r:id="rId6"/>
    <p:sldId id="267" r:id="rId7"/>
    <p:sldId id="266" r:id="rId8"/>
    <p:sldId id="269" r:id="rId9"/>
    <p:sldId id="260" r:id="rId10"/>
    <p:sldId id="268" r:id="rId11"/>
    <p:sldId id="261" r:id="rId12"/>
    <p:sldId id="262" r:id="rId13"/>
    <p:sldId id="270" r:id="rId14"/>
    <p:sldId id="263" r:id="rId15"/>
    <p:sldId id="264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16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C2FFA5D-87B4-456A-9821-1D502468CF0F}" styleName="Estilo com Tema 1 - Ênfase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69012ECD-51FC-41F1-AA8D-1B2483CD663E}" styleName="Estilo Claro 2 - Ênfase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>
        <p:scale>
          <a:sx n="100" d="100"/>
          <a:sy n="100" d="100"/>
        </p:scale>
        <p:origin x="1794" y="606"/>
      </p:cViewPr>
      <p:guideLst>
        <p:guide orient="horz" pos="216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Slide de Título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436346" y="1788454"/>
            <a:ext cx="6270922" cy="2098226"/>
          </a:xfrm>
        </p:spPr>
        <p:txBody>
          <a:bodyPr anchor="b">
            <a:noAutofit/>
          </a:bodyPr>
          <a:lstStyle>
            <a:lvl1pPr algn="ctr">
              <a:defRPr sz="6000" cap="all" baseline="0">
                <a:solidFill>
                  <a:schemeClr val="tx2"/>
                </a:solidFill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009930" y="3956280"/>
            <a:ext cx="5123755" cy="1086237"/>
          </a:xfrm>
        </p:spPr>
        <p:txBody>
          <a:bodyPr>
            <a:normAutofit/>
          </a:bodyPr>
          <a:lstStyle>
            <a:lvl1pPr marL="0" indent="0"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pt-BR"/>
              <a:t>Clique para editar o estilo do subtítulo Mestre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564644" y="6453386"/>
            <a:ext cx="1205958" cy="404614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938041" y="6453386"/>
            <a:ext cx="5267533" cy="404614"/>
          </a:xfrm>
        </p:spPr>
        <p:txBody>
          <a:bodyPr/>
          <a:lstStyle>
            <a:lvl1pPr algn="ctr">
              <a:defRPr baseline="0"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373012" y="6453386"/>
            <a:ext cx="1197219" cy="404614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  <p:grpSp>
        <p:nvGrpSpPr>
          <p:cNvPr id="8" name="Group 7"/>
          <p:cNvGrpSpPr/>
          <p:nvPr/>
        </p:nvGrpSpPr>
        <p:grpSpPr>
          <a:xfrm>
            <a:off x="564643" y="744469"/>
            <a:ext cx="8005589" cy="5349671"/>
            <a:chOff x="564643" y="744469"/>
            <a:chExt cx="8005589" cy="5349671"/>
          </a:xfrm>
        </p:grpSpPr>
        <p:sp>
          <p:nvSpPr>
            <p:cNvPr id="11" name="Freeform 6"/>
            <p:cNvSpPr/>
            <p:nvPr/>
          </p:nvSpPr>
          <p:spPr bwMode="auto">
            <a:xfrm>
              <a:off x="6113972" y="1685652"/>
              <a:ext cx="2456260" cy="4408488"/>
            </a:xfrm>
            <a:custGeom>
              <a:avLst/>
              <a:gdLst/>
              <a:ahLst/>
              <a:cxnLst/>
              <a:rect l="l" t="t" r="r" b="b"/>
              <a:pathLst>
                <a:path w="10000" h="10000">
                  <a:moveTo>
                    <a:pt x="8761" y="0"/>
                  </a:moveTo>
                  <a:lnTo>
                    <a:pt x="10000" y="0"/>
                  </a:lnTo>
                  <a:lnTo>
                    <a:pt x="10000" y="10000"/>
                  </a:lnTo>
                  <a:lnTo>
                    <a:pt x="0" y="10000"/>
                  </a:lnTo>
                  <a:lnTo>
                    <a:pt x="0" y="9357"/>
                  </a:lnTo>
                  <a:lnTo>
                    <a:pt x="8761" y="9357"/>
                  </a:lnTo>
                  <a:lnTo>
                    <a:pt x="8761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14" name="Freeform 6"/>
            <p:cNvSpPr/>
            <p:nvPr/>
          </p:nvSpPr>
          <p:spPr bwMode="auto">
            <a:xfrm flipH="1" flipV="1">
              <a:off x="564643" y="744469"/>
              <a:ext cx="2456505" cy="4408488"/>
            </a:xfrm>
            <a:custGeom>
              <a:avLst/>
              <a:gdLst/>
              <a:ahLst/>
              <a:cxnLst/>
              <a:rect l="l" t="t" r="r" b="b"/>
              <a:pathLst>
                <a:path w="10001" h="10000">
                  <a:moveTo>
                    <a:pt x="8762" y="0"/>
                  </a:moveTo>
                  <a:lnTo>
                    <a:pt x="10001" y="0"/>
                  </a:lnTo>
                  <a:lnTo>
                    <a:pt x="10001" y="10000"/>
                  </a:lnTo>
                  <a:lnTo>
                    <a:pt x="1" y="10000"/>
                  </a:lnTo>
                  <a:cubicBezTo>
                    <a:pt x="-2" y="9766"/>
                    <a:pt x="4" y="9586"/>
                    <a:pt x="1" y="9352"/>
                  </a:cubicBezTo>
                  <a:lnTo>
                    <a:pt x="8762" y="9346"/>
                  </a:lnTo>
                  <a:lnTo>
                    <a:pt x="8762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pt-BR"/>
            </a:p>
          </p:txBody>
        </p:sp>
      </p:grpSp>
    </p:spTree>
    <p:extLst>
      <p:ext uri="{BB962C8B-B14F-4D97-AF65-F5344CB8AC3E}">
        <p14:creationId xmlns:p14="http://schemas.microsoft.com/office/powerpoint/2010/main" val="42129983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1550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Cabeçalho da Seção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73769" y="1301361"/>
            <a:ext cx="7209728" cy="2852737"/>
          </a:xfrm>
        </p:spPr>
        <p:txBody>
          <a:bodyPr anchor="b">
            <a:normAutofit/>
          </a:bodyPr>
          <a:lstStyle>
            <a:lvl1pPr algn="r">
              <a:defRPr sz="6000" cap="all" baseline="0">
                <a:solidFill>
                  <a:schemeClr val="tx2"/>
                </a:solidFill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73769" y="4216328"/>
            <a:ext cx="7209728" cy="1143324"/>
          </a:xfrm>
        </p:spPr>
        <p:txBody>
          <a:bodyPr/>
          <a:lstStyle>
            <a:lvl1pPr marL="0" indent="0"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tx2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554181" y="6453386"/>
            <a:ext cx="1216807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938234" y="6453386"/>
            <a:ext cx="5267533" cy="404614"/>
          </a:xfrm>
        </p:spPr>
        <p:txBody>
          <a:bodyPr/>
          <a:lstStyle>
            <a:lvl1pPr algn="ctr"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373012" y="6453386"/>
            <a:ext cx="1197219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  <p:sp>
        <p:nvSpPr>
          <p:cNvPr id="7" name="Freeform 6"/>
          <p:cNvSpPr/>
          <p:nvPr/>
        </p:nvSpPr>
        <p:spPr bwMode="auto">
          <a:xfrm>
            <a:off x="6113972" y="1685652"/>
            <a:ext cx="2456260" cy="4408488"/>
          </a:xfrm>
          <a:custGeom>
            <a:avLst/>
            <a:gdLst/>
            <a:ahLst/>
            <a:cxnLst/>
            <a:rect l="0" t="0" r="r" b="b"/>
            <a:pathLst>
              <a:path w="4125" h="5554">
                <a:moveTo>
                  <a:pt x="3614" y="0"/>
                </a:moveTo>
                <a:lnTo>
                  <a:pt x="4125" y="0"/>
                </a:lnTo>
                <a:lnTo>
                  <a:pt x="4125" y="5554"/>
                </a:lnTo>
                <a:lnTo>
                  <a:pt x="0" y="5554"/>
                </a:lnTo>
                <a:lnTo>
                  <a:pt x="0" y="5074"/>
                </a:lnTo>
                <a:lnTo>
                  <a:pt x="3614" y="5074"/>
                </a:lnTo>
                <a:lnTo>
                  <a:pt x="3614" y="0"/>
                </a:lnTo>
                <a:close/>
              </a:path>
            </a:pathLst>
          </a:custGeom>
          <a:solidFill>
            <a:schemeClr val="bg2"/>
          </a:solidFill>
          <a:ln w="0">
            <a:noFill/>
            <a:prstDash val="solid"/>
            <a:round/>
            <a:headEnd/>
            <a:tailEnd/>
          </a:ln>
        </p:spPr>
      </p:sp>
      <p:sp>
        <p:nvSpPr>
          <p:cNvPr id="8" name="Freeform 7" title="Crop Mark"/>
          <p:cNvSpPr/>
          <p:nvPr/>
        </p:nvSpPr>
        <p:spPr bwMode="auto">
          <a:xfrm>
            <a:off x="6113972" y="1685652"/>
            <a:ext cx="2456260" cy="4408488"/>
          </a:xfrm>
          <a:custGeom>
            <a:avLst/>
            <a:gdLst/>
            <a:ahLst/>
            <a:cxnLst/>
            <a:rect l="0" t="0" r="r" b="b"/>
            <a:pathLst>
              <a:path w="4125" h="5554">
                <a:moveTo>
                  <a:pt x="3614" y="0"/>
                </a:moveTo>
                <a:lnTo>
                  <a:pt x="4125" y="0"/>
                </a:lnTo>
                <a:lnTo>
                  <a:pt x="4125" y="5554"/>
                </a:lnTo>
                <a:lnTo>
                  <a:pt x="0" y="5554"/>
                </a:lnTo>
                <a:lnTo>
                  <a:pt x="0" y="5074"/>
                </a:lnTo>
                <a:lnTo>
                  <a:pt x="3614" y="5074"/>
                </a:lnTo>
                <a:lnTo>
                  <a:pt x="3614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</p:sp>
    </p:spTree>
    <p:extLst>
      <p:ext uri="{BB962C8B-B14F-4D97-AF65-F5344CB8AC3E}">
        <p14:creationId xmlns:p14="http://schemas.microsoft.com/office/powerpoint/2010/main" val="26523484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28700" y="2286000"/>
            <a:ext cx="3335840" cy="3581401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894052" y="2286000"/>
            <a:ext cx="3335840" cy="3581401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605086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8700" y="685800"/>
            <a:ext cx="7200900" cy="148590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8700" y="2340230"/>
            <a:ext cx="3335840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2400" b="0" baseline="0">
                <a:solidFill>
                  <a:schemeClr val="tx2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28700" y="3305208"/>
            <a:ext cx="3335839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893760" y="2349754"/>
            <a:ext cx="3335840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2400" b="0" baseline="0">
                <a:solidFill>
                  <a:schemeClr val="tx2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893760" y="3305208"/>
            <a:ext cx="3335840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31283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99371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47284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397764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2925" y="685800"/>
            <a:ext cx="2891790" cy="2157884"/>
          </a:xfrm>
        </p:spPr>
        <p:txBody>
          <a:bodyPr anchor="t">
            <a:noAutofit/>
          </a:bodyPr>
          <a:lstStyle>
            <a:lvl1pPr>
              <a:lnSpc>
                <a:spcPct val="84000"/>
              </a:lnSpc>
              <a:defRPr sz="4400" baseline="0">
                <a:solidFill>
                  <a:schemeClr val="tx2"/>
                </a:solidFill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92015" y="685801"/>
            <a:ext cx="3909060" cy="5175250"/>
          </a:xfrm>
        </p:spPr>
        <p:txBody>
          <a:bodyPr/>
          <a:lstStyle>
            <a:lvl1pPr>
              <a:defRPr sz="1500"/>
            </a:lvl1pPr>
            <a:lvl2pPr>
              <a:defRPr sz="1500"/>
            </a:lvl2pPr>
            <a:lvl3pPr>
              <a:defRPr sz="1350"/>
            </a:lvl3pPr>
            <a:lvl4pPr>
              <a:defRPr sz="135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42925" y="2856344"/>
            <a:ext cx="2891790" cy="3011056"/>
          </a:xfrm>
        </p:spPr>
        <p:txBody>
          <a:bodyPr>
            <a:normAutofit/>
          </a:bodyPr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542925" y="6453386"/>
            <a:ext cx="903429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654459" y="6453386"/>
            <a:ext cx="1780256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7412355" y="6453386"/>
            <a:ext cx="1197219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3977640" y="376"/>
            <a:ext cx="17145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 title="Divider Bar"/>
          <p:cNvSpPr/>
          <p:nvPr/>
        </p:nvSpPr>
        <p:spPr>
          <a:xfrm>
            <a:off x="3977640" y="376"/>
            <a:ext cx="17145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35359897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397764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2925" y="685800"/>
            <a:ext cx="2891790" cy="2157884"/>
          </a:xfrm>
        </p:spPr>
        <p:txBody>
          <a:bodyPr anchor="t">
            <a:normAutofit/>
          </a:bodyPr>
          <a:lstStyle>
            <a:lvl1pPr>
              <a:lnSpc>
                <a:spcPct val="84000"/>
              </a:lnSpc>
              <a:defRPr sz="4400" baseline="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149090" y="1"/>
            <a:ext cx="4994910" cy="6857999"/>
          </a:xfrm>
        </p:spPr>
        <p:txBody>
          <a:bodyPr anchor="t"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1500"/>
            </a:lvl2pPr>
            <a:lvl3pPr marL="685800" indent="0">
              <a:buNone/>
              <a:defRPr sz="15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42925" y="2855968"/>
            <a:ext cx="2891790" cy="3011432"/>
          </a:xfrm>
        </p:spPr>
        <p:txBody>
          <a:bodyPr>
            <a:normAutofit/>
          </a:bodyPr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542925" y="6453386"/>
            <a:ext cx="903429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654459" y="6453386"/>
            <a:ext cx="1780256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7412355" y="6453386"/>
            <a:ext cx="1197219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3977640" y="376"/>
            <a:ext cx="17145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 title="Divider Bar"/>
          <p:cNvSpPr/>
          <p:nvPr/>
        </p:nvSpPr>
        <p:spPr>
          <a:xfrm>
            <a:off x="3977640" y="376"/>
            <a:ext cx="17145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1993309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28700" y="2295526"/>
            <a:ext cx="7200900" cy="3571875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39434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880797" y="624156"/>
            <a:ext cx="1490950" cy="5243244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28700" y="624156"/>
            <a:ext cx="5724525" cy="5243244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77443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28700" y="685800"/>
            <a:ext cx="7200900" cy="14859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8700" y="2286000"/>
            <a:ext cx="7200900" cy="35814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42987" y="6453386"/>
            <a:ext cx="903429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aseline="0">
                <a:solidFill>
                  <a:schemeClr val="tx2"/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170173" y="6453386"/>
            <a:ext cx="4710623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aseline="0"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104552" y="6453386"/>
            <a:ext cx="1197219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aseline="0">
                <a:solidFill>
                  <a:schemeClr val="tx2"/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358571" y="376"/>
            <a:ext cx="17145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pt-BR"/>
          </a:p>
        </p:txBody>
      </p:sp>
      <p:sp>
        <p:nvSpPr>
          <p:cNvPr id="8" name="Rectangle 7" title="Side bar"/>
          <p:cNvSpPr/>
          <p:nvPr/>
        </p:nvSpPr>
        <p:spPr>
          <a:xfrm>
            <a:off x="358571" y="376"/>
            <a:ext cx="17145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383309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61" r:id="rId1"/>
    <p:sldLayoutId id="2147483762" r:id="rId2"/>
    <p:sldLayoutId id="2147483763" r:id="rId3"/>
    <p:sldLayoutId id="2147483764" r:id="rId4"/>
    <p:sldLayoutId id="2147483765" r:id="rId5"/>
    <p:sldLayoutId id="2147483766" r:id="rId6"/>
    <p:sldLayoutId id="2147483767" r:id="rId7"/>
    <p:sldLayoutId id="2147483768" r:id="rId8"/>
    <p:sldLayoutId id="2147483769" r:id="rId9"/>
    <p:sldLayoutId id="2147483770" r:id="rId10"/>
    <p:sldLayoutId id="2147483771" r:id="rId11"/>
  </p:sldLayoutIdLst>
  <p:txStyles>
    <p:titleStyle>
      <a:lvl1pPr algn="l" defTabSz="685800" rtl="0" eaLnBrk="1" latinLnBrk="0" hangingPunct="1">
        <a:lnSpc>
          <a:spcPct val="89000"/>
        </a:lnSpc>
        <a:spcBef>
          <a:spcPct val="0"/>
        </a:spcBef>
        <a:buNone/>
        <a:defRPr sz="4400" kern="1200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384048" indent="-384048" algn="l" defTabSz="685800" rtl="0" eaLnBrk="1" latinLnBrk="0" hangingPunct="1">
        <a:lnSpc>
          <a:spcPct val="94000"/>
        </a:lnSpc>
        <a:spcBef>
          <a:spcPts val="1000"/>
        </a:spcBef>
        <a:spcAft>
          <a:spcPts val="200"/>
        </a:spcAft>
        <a:buFont typeface="Franklin Gothic Book" panose="020B0503020102020204" pitchFamily="34" charset="0"/>
        <a:buChar char="■"/>
        <a:defRPr sz="2000" kern="1200" baseline="0">
          <a:solidFill>
            <a:schemeClr val="tx2"/>
          </a:solidFill>
          <a:latin typeface="+mn-lt"/>
          <a:ea typeface="+mn-ea"/>
          <a:cs typeface="+mn-cs"/>
        </a:defRPr>
      </a:lvl1pPr>
      <a:lvl2pPr marL="914400" indent="-384048" algn="l" defTabSz="6858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2000" i="1" kern="1200" baseline="0">
          <a:solidFill>
            <a:schemeClr val="tx2"/>
          </a:solidFill>
          <a:latin typeface="+mn-lt"/>
          <a:ea typeface="+mn-ea"/>
          <a:cs typeface="+mn-cs"/>
        </a:defRPr>
      </a:lvl2pPr>
      <a:lvl3pPr marL="1371600" indent="-384048" algn="l" defTabSz="6858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800" kern="1200" baseline="0">
          <a:solidFill>
            <a:schemeClr val="tx2"/>
          </a:solidFill>
          <a:latin typeface="+mn-lt"/>
          <a:ea typeface="+mn-ea"/>
          <a:cs typeface="+mn-cs"/>
        </a:defRPr>
      </a:lvl3pPr>
      <a:lvl4pPr marL="1828800" indent="-384048" algn="l" defTabSz="6858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800" i="1" kern="1200" baseline="0">
          <a:solidFill>
            <a:schemeClr val="tx2"/>
          </a:solidFill>
          <a:latin typeface="+mn-lt"/>
          <a:ea typeface="+mn-ea"/>
          <a:cs typeface="+mn-cs"/>
        </a:defRPr>
      </a:lvl4pPr>
      <a:lvl5pPr marL="2286000" indent="-384048" algn="l" defTabSz="6858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600" kern="1200" baseline="0">
          <a:solidFill>
            <a:schemeClr val="tx2"/>
          </a:solidFill>
          <a:latin typeface="+mn-lt"/>
          <a:ea typeface="+mn-ea"/>
          <a:cs typeface="+mn-cs"/>
        </a:defRPr>
      </a:lvl5pPr>
      <a:lvl6pPr marL="2743200" indent="-384048" algn="l" defTabSz="6858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600" i="1" kern="1200" baseline="0">
          <a:solidFill>
            <a:schemeClr val="tx2"/>
          </a:solidFill>
          <a:latin typeface="+mn-lt"/>
          <a:ea typeface="+mn-ea"/>
          <a:cs typeface="+mn-cs"/>
        </a:defRPr>
      </a:lvl6pPr>
      <a:lvl7pPr marL="3200400" indent="-384048" algn="l" defTabSz="6858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7pPr>
      <a:lvl8pPr marL="3657600" indent="-384048" algn="l" defTabSz="6858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400" i="1" kern="1200" baseline="0">
          <a:solidFill>
            <a:schemeClr val="tx2"/>
          </a:solidFill>
          <a:latin typeface="+mn-lt"/>
          <a:ea typeface="+mn-ea"/>
          <a:cs typeface="+mn-cs"/>
        </a:defRPr>
      </a:lvl8pPr>
      <a:lvl9pPr marL="4114800" indent="-384048" algn="l" defTabSz="6858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0" orient="horz" pos="1368">
          <p15:clr>
            <a:srgbClr val="F26B43"/>
          </p15:clr>
        </p15:guide>
        <p15:guide id="1" pos="6912">
          <p15:clr>
            <a:srgbClr val="F26B43"/>
          </p15:clr>
        </p15:guide>
        <p15:guide id="2" pos="936">
          <p15:clr>
            <a:srgbClr val="F26B43"/>
          </p15:clr>
        </p15:guide>
        <p15:guide id="3" pos="864">
          <p15:clr>
            <a:srgbClr val="F26B43"/>
          </p15:clr>
        </p15:guide>
        <p15:guide id="4" orient="horz" pos="1440">
          <p15:clr>
            <a:srgbClr val="F26B43"/>
          </p15:clr>
        </p15:guide>
        <p15:guide id="5" orient="horz" pos="3696">
          <p15:clr>
            <a:srgbClr val="F26B43"/>
          </p15:clr>
        </p15:guide>
        <p15:guide id="6" orient="horz" pos="432">
          <p15:clr>
            <a:srgbClr val="F26B43"/>
          </p15:clr>
        </p15:guide>
        <p15:guide id="7" orient="horz" pos="1512">
          <p15:clr>
            <a:srgbClr val="F26B43"/>
          </p15:clr>
        </p15:guide>
        <p15:guide id="8" pos="5184">
          <p15:clr>
            <a:srgbClr val="F26B43"/>
          </p15:clr>
        </p15:guide>
        <p15:guide id="9" pos="702">
          <p15:clr>
            <a:srgbClr val="F26B43"/>
          </p15:clr>
        </p15:guide>
        <p15:guide id="10" pos="648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Gráfico">
            <a:extLst>
              <a:ext uri="{FF2B5EF4-FFF2-40B4-BE49-F238E27FC236}">
                <a16:creationId xmlns:a16="http://schemas.microsoft.com/office/drawing/2014/main" id="{6D3A8D7E-F58D-0186-C156-CB957BF2CBD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708" r="13974" b="-1"/>
          <a:stretch>
            <a:fillRect/>
          </a:stretch>
        </p:blipFill>
        <p:spPr>
          <a:xfrm>
            <a:off x="20" y="10"/>
            <a:ext cx="9143980" cy="6859300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F33867FC-EB8E-4B00-B7D5-7967D9DF1C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gradFill flip="none" rotWithShape="1">
            <a:gsLst>
              <a:gs pos="30000">
                <a:schemeClr val="bg2">
                  <a:alpha val="75000"/>
                </a:schemeClr>
              </a:gs>
              <a:gs pos="100000">
                <a:schemeClr val="bg2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 6">
            <a:extLst>
              <a:ext uri="{FF2B5EF4-FFF2-40B4-BE49-F238E27FC236}">
                <a16:creationId xmlns:a16="http://schemas.microsoft.com/office/drawing/2014/main" id="{D69E00ED-B0F1-4570-A74E-E05D0E9A86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 flipH="1" flipV="1">
            <a:off x="564643" y="744469"/>
            <a:ext cx="2456751" cy="4408488"/>
          </a:xfrm>
          <a:custGeom>
            <a:avLst/>
            <a:gdLst/>
            <a:ahLst/>
            <a:cxnLst/>
            <a:rect l="l" t="t" r="r" b="b"/>
            <a:pathLst>
              <a:path w="10002" h="10000">
                <a:moveTo>
                  <a:pt x="8763" y="0"/>
                </a:moveTo>
                <a:lnTo>
                  <a:pt x="10002" y="0"/>
                </a:lnTo>
                <a:lnTo>
                  <a:pt x="10002" y="10000"/>
                </a:lnTo>
                <a:lnTo>
                  <a:pt x="2" y="10000"/>
                </a:lnTo>
                <a:cubicBezTo>
                  <a:pt x="-2" y="9698"/>
                  <a:pt x="4" y="9427"/>
                  <a:pt x="0" y="9125"/>
                </a:cubicBezTo>
                <a:lnTo>
                  <a:pt x="8763" y="9128"/>
                </a:lnTo>
                <a:lnTo>
                  <a:pt x="8763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  <p:txBody>
          <a:bodyPr/>
          <a:lstStyle/>
          <a:p>
            <a:endParaRPr lang="pt-BR"/>
          </a:p>
        </p:txBody>
      </p:sp>
      <p:sp>
        <p:nvSpPr>
          <p:cNvPr id="13" name="Freeform 6">
            <a:extLst>
              <a:ext uri="{FF2B5EF4-FFF2-40B4-BE49-F238E27FC236}">
                <a16:creationId xmlns:a16="http://schemas.microsoft.com/office/drawing/2014/main" id="{074D0BE7-DDD8-46AB-A2C1-5B7FFD921A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6113971" y="1685652"/>
            <a:ext cx="2456260" cy="4408488"/>
          </a:xfrm>
          <a:custGeom>
            <a:avLst/>
            <a:gdLst/>
            <a:ahLst/>
            <a:cxnLst/>
            <a:rect l="l" t="t" r="r" b="b"/>
            <a:pathLst>
              <a:path w="10000" h="10000">
                <a:moveTo>
                  <a:pt x="8761" y="0"/>
                </a:moveTo>
                <a:lnTo>
                  <a:pt x="10000" y="0"/>
                </a:lnTo>
                <a:lnTo>
                  <a:pt x="10000" y="10000"/>
                </a:lnTo>
                <a:lnTo>
                  <a:pt x="0" y="10000"/>
                </a:lnTo>
                <a:lnTo>
                  <a:pt x="0" y="9126"/>
                </a:lnTo>
                <a:lnTo>
                  <a:pt x="8761" y="9127"/>
                </a:lnTo>
                <a:lnTo>
                  <a:pt x="8761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  <p:txBody>
          <a:bodyPr/>
          <a:lstStyle/>
          <a:p>
            <a:endParaRPr lang="pt-BR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436346" y="1788454"/>
            <a:ext cx="6270921" cy="2098226"/>
          </a:xfrm>
        </p:spPr>
        <p:txBody>
          <a:bodyPr>
            <a:normAutofit/>
          </a:bodyPr>
          <a:lstStyle/>
          <a:p>
            <a:r>
              <a:rPr lang="pt-BR" sz="4700" noProof="0"/>
              <a:t>NPS Preditivo — Tech </a:t>
            </a:r>
            <a:r>
              <a:rPr lang="pt-BR" sz="4700" noProof="0" err="1"/>
              <a:t>Challenge</a:t>
            </a:r>
            <a:r>
              <a:rPr lang="pt-BR" sz="4700" noProof="0"/>
              <a:t> Fase 1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009929" y="3956279"/>
            <a:ext cx="5123755" cy="1086237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pt-BR" noProof="0" dirty="0">
                <a:solidFill>
                  <a:srgbClr val="191B0E"/>
                </a:solidFill>
              </a:rPr>
              <a:t>E-commerce: da operação à experiência do cliente</a:t>
            </a:r>
          </a:p>
          <a:p>
            <a:pPr>
              <a:spcAft>
                <a:spcPts val="600"/>
              </a:spcAft>
            </a:pPr>
            <a:r>
              <a:rPr lang="pt-BR" b="1" i="1" noProof="0" dirty="0">
                <a:solidFill>
                  <a:srgbClr val="191B0E"/>
                </a:solidFill>
              </a:rPr>
              <a:t>FIAP</a:t>
            </a:r>
            <a:r>
              <a:rPr lang="pt-BR" b="1" i="1" dirty="0">
                <a:solidFill>
                  <a:srgbClr val="191B0E"/>
                </a:solidFill>
              </a:rPr>
              <a:t> – Raphael Reis – 01.05.2026</a:t>
            </a:r>
            <a:endParaRPr lang="pt-BR" noProof="0" dirty="0">
              <a:solidFill>
                <a:srgbClr val="191B0E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5900" y="160336"/>
            <a:ext cx="6172200" cy="1143000"/>
          </a:xfrm>
        </p:spPr>
        <p:txBody>
          <a:bodyPr>
            <a:normAutofit/>
          </a:bodyPr>
          <a:lstStyle/>
          <a:p>
            <a:pPr algn="ctr"/>
            <a:r>
              <a:rPr lang="pt-BR" noProof="0" dirty="0"/>
              <a:t>Contexto do problema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92269" y="1166018"/>
            <a:ext cx="7123262" cy="4525963"/>
          </a:xfrm>
        </p:spPr>
        <p:txBody>
          <a:bodyPr/>
          <a:lstStyle/>
          <a:p>
            <a:pPr>
              <a:defRPr sz="2000"/>
            </a:pPr>
            <a:r>
              <a:rPr lang="pt-BR" noProof="0" dirty="0"/>
              <a:t>E-commerce em crescimento: mais pedidos, entregas e interações.</a:t>
            </a:r>
          </a:p>
          <a:p>
            <a:pPr>
              <a:defRPr sz="2000"/>
            </a:pPr>
            <a:r>
              <a:rPr lang="pt-BR" noProof="0" dirty="0"/>
              <a:t>NPS varia muito entre clientes — e a pesquisa só vem no fim da jornada.</a:t>
            </a:r>
          </a:p>
          <a:p>
            <a:pPr>
              <a:defRPr sz="2000"/>
            </a:pPr>
            <a:r>
              <a:rPr lang="pt-BR" noProof="0" dirty="0"/>
              <a:t>Consequência: a empresa reage tarde; queremos antecipar problemas.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75424" y="174507"/>
            <a:ext cx="7814893" cy="1143000"/>
          </a:xfrm>
        </p:spPr>
        <p:txBody>
          <a:bodyPr>
            <a:normAutofit fontScale="90000"/>
          </a:bodyPr>
          <a:lstStyle/>
          <a:p>
            <a:r>
              <a:rPr lang="pt-BR" noProof="0" dirty="0"/>
              <a:t>Perguntas que orientam a análise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66391" y="1263771"/>
            <a:ext cx="8123926" cy="4525963"/>
          </a:xfrm>
        </p:spPr>
        <p:txBody>
          <a:bodyPr/>
          <a:lstStyle/>
          <a:p>
            <a:pPr>
              <a:defRPr sz="2000"/>
            </a:pPr>
            <a:r>
              <a:rPr lang="pt-BR" noProof="0" dirty="0"/>
              <a:t>Quais fatores operacionais mais explicam o NPS?</a:t>
            </a:r>
          </a:p>
          <a:p>
            <a:pPr>
              <a:defRPr sz="2000"/>
            </a:pPr>
            <a:r>
              <a:rPr lang="pt-BR" noProof="0" dirty="0"/>
              <a:t>Onde estão os detratores e qual o “ponto de ruptura” da experiência?</a:t>
            </a:r>
          </a:p>
          <a:p>
            <a:pPr>
              <a:defRPr sz="2000"/>
            </a:pPr>
            <a:r>
              <a:rPr lang="pt-BR" noProof="0" dirty="0"/>
              <a:t>(Complemento) Qual pedido tem maior risco de NPS baixo antes da pesquisa?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D07AE3-24DC-E0E5-90F8-08282B66BC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CFC86A-F50D-7317-70C8-986E44048E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85900" y="133350"/>
            <a:ext cx="6172200" cy="1143000"/>
          </a:xfrm>
        </p:spPr>
        <p:txBody>
          <a:bodyPr>
            <a:normAutofit fontScale="90000"/>
          </a:bodyPr>
          <a:lstStyle/>
          <a:p>
            <a:r>
              <a:rPr lang="pt-BR" noProof="0" dirty="0"/>
              <a:t>Principais insights da EDA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BC5E78-EE57-D9C0-35B8-D76938386F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0228" y="1375477"/>
            <a:ext cx="7858447" cy="1358198"/>
          </a:xfrm>
        </p:spPr>
        <p:txBody>
          <a:bodyPr>
            <a:normAutofit/>
          </a:bodyPr>
          <a:lstStyle/>
          <a:p>
            <a:pPr>
              <a:defRPr sz="2000"/>
            </a:pPr>
            <a:r>
              <a:rPr lang="pt-BR" noProof="0" dirty="0"/>
              <a:t>Base com ~2.500 pedidos: </a:t>
            </a:r>
          </a:p>
          <a:p>
            <a:pPr lvl="1">
              <a:defRPr sz="2000"/>
            </a:pPr>
            <a:r>
              <a:rPr lang="pt-BR" noProof="0" dirty="0"/>
              <a:t>NPS médio baixo;</a:t>
            </a:r>
          </a:p>
          <a:p>
            <a:pPr lvl="1">
              <a:defRPr sz="2000"/>
            </a:pPr>
            <a:r>
              <a:rPr lang="pt-BR" noProof="0" dirty="0"/>
              <a:t>Predominância de detratores na escala de 0 a 10.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05D34593-735C-EB69-0E4F-CAC8307E0E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0229" y="2612470"/>
            <a:ext cx="4377450" cy="2130980"/>
          </a:xfrm>
          <a:prstGeom prst="rect">
            <a:avLst/>
          </a:prstGeom>
        </p:spPr>
      </p:pic>
      <p:pic>
        <p:nvPicPr>
          <p:cNvPr id="7" name="Imagem 6">
            <a:extLst>
              <a:ext uri="{FF2B5EF4-FFF2-40B4-BE49-F238E27FC236}">
                <a16:creationId xmlns:a16="http://schemas.microsoft.com/office/drawing/2014/main" id="{3852B777-A179-BC2E-F84D-A15D533AED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6502" y="3725314"/>
            <a:ext cx="3925699" cy="2566286"/>
          </a:xfrm>
          <a:prstGeom prst="rect">
            <a:avLst/>
          </a:prstGeom>
        </p:spPr>
      </p:pic>
      <p:cxnSp>
        <p:nvCxnSpPr>
          <p:cNvPr id="9" name="Conector de Seta Reta 8">
            <a:extLst>
              <a:ext uri="{FF2B5EF4-FFF2-40B4-BE49-F238E27FC236}">
                <a16:creationId xmlns:a16="http://schemas.microsoft.com/office/drawing/2014/main" id="{4246FF9A-34AD-0A00-3683-C8D3F1ED4B6F}"/>
              </a:ext>
            </a:extLst>
          </p:cNvPr>
          <p:cNvCxnSpPr/>
          <p:nvPr/>
        </p:nvCxnSpPr>
        <p:spPr>
          <a:xfrm>
            <a:off x="5076502" y="2990850"/>
            <a:ext cx="73374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ector de Seta Reta 9">
            <a:extLst>
              <a:ext uri="{FF2B5EF4-FFF2-40B4-BE49-F238E27FC236}">
                <a16:creationId xmlns:a16="http://schemas.microsoft.com/office/drawing/2014/main" id="{A16B922D-7CE7-78A2-7A0C-ABD3272CBD27}"/>
              </a:ext>
            </a:extLst>
          </p:cNvPr>
          <p:cNvCxnSpPr>
            <a:cxnSpLocks/>
          </p:cNvCxnSpPr>
          <p:nvPr/>
        </p:nvCxnSpPr>
        <p:spPr>
          <a:xfrm flipH="1">
            <a:off x="4197948" y="5558722"/>
            <a:ext cx="74810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69BA1781-4ADB-BA3C-B839-926634608554}"/>
              </a:ext>
            </a:extLst>
          </p:cNvPr>
          <p:cNvSpPr txBox="1"/>
          <p:nvPr/>
        </p:nvSpPr>
        <p:spPr>
          <a:xfrm>
            <a:off x="5932353" y="2806184"/>
            <a:ext cx="20305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NPS Médio = 4,38</a:t>
            </a:r>
          </a:p>
        </p:txBody>
      </p:sp>
      <p:graphicFrame>
        <p:nvGraphicFramePr>
          <p:cNvPr id="15" name="Tabela 14">
            <a:extLst>
              <a:ext uri="{FF2B5EF4-FFF2-40B4-BE49-F238E27FC236}">
                <a16:creationId xmlns:a16="http://schemas.microsoft.com/office/drawing/2014/main" id="{D469371E-8464-E225-8B5D-A7B2FE1B3ED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71852557"/>
              </p:ext>
            </p:extLst>
          </p:nvPr>
        </p:nvGraphicFramePr>
        <p:xfrm>
          <a:off x="1714500" y="4956742"/>
          <a:ext cx="2352998" cy="1203960"/>
        </p:xfrm>
        <a:graphic>
          <a:graphicData uri="http://schemas.openxmlformats.org/drawingml/2006/table">
            <a:tbl>
              <a:tblPr firstRow="1">
                <a:tableStyleId>{69012ECD-51FC-41F1-AA8D-1B2483CD663E}</a:tableStyleId>
              </a:tblPr>
              <a:tblGrid>
                <a:gridCol w="1176499">
                  <a:extLst>
                    <a:ext uri="{9D8B030D-6E8A-4147-A177-3AD203B41FA5}">
                      <a16:colId xmlns:a16="http://schemas.microsoft.com/office/drawing/2014/main" val="3644166253"/>
                    </a:ext>
                  </a:extLst>
                </a:gridCol>
                <a:gridCol w="1176499">
                  <a:extLst>
                    <a:ext uri="{9D8B030D-6E8A-4147-A177-3AD203B41FA5}">
                      <a16:colId xmlns:a16="http://schemas.microsoft.com/office/drawing/2014/main" val="430953295"/>
                    </a:ext>
                  </a:extLst>
                </a:gridCol>
              </a:tblGrid>
              <a:tr h="244776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pt-BR" b="1">
                          <a:effectLst/>
                        </a:rPr>
                        <a:t>Categoria</a:t>
                      </a:r>
                    </a:p>
                  </a:txBody>
                  <a:tcPr marL="85725" marR="85725" marT="47625" marB="47625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pt-BR" b="1">
                          <a:effectLst/>
                        </a:rPr>
                        <a:t>Quantidade</a:t>
                      </a:r>
                    </a:p>
                  </a:txBody>
                  <a:tcPr marL="85725" marR="85725" marT="47625" marB="47625"/>
                </a:tc>
                <a:extLst>
                  <a:ext uri="{0D108BD9-81ED-4DB2-BD59-A6C34878D82A}">
                    <a16:rowId xmlns:a16="http://schemas.microsoft.com/office/drawing/2014/main" val="118441413"/>
                  </a:ext>
                </a:extLst>
              </a:tr>
              <a:tr h="244776">
                <a:tc>
                  <a:txBody>
                    <a:bodyPr/>
                    <a:lstStyle/>
                    <a:p>
                      <a:pPr algn="l" fontAlgn="t" latinLnBrk="0">
                        <a:buNone/>
                      </a:pPr>
                      <a:r>
                        <a:rPr lang="pt-BR" b="0" dirty="0">
                          <a:effectLst/>
                        </a:rPr>
                        <a:t>Detratores</a:t>
                      </a:r>
                    </a:p>
                  </a:txBody>
                  <a:tcPr marL="85725" marR="85725" marT="47625" marB="47625"/>
                </a:tc>
                <a:tc>
                  <a:txBody>
                    <a:bodyPr/>
                    <a:lstStyle/>
                    <a:p>
                      <a:pPr algn="l" fontAlgn="t" latinLnBrk="0">
                        <a:buNone/>
                      </a:pPr>
                      <a:r>
                        <a:rPr lang="pt-BR" b="0" dirty="0">
                          <a:effectLst/>
                        </a:rPr>
                        <a:t>2109</a:t>
                      </a:r>
                    </a:p>
                  </a:txBody>
                  <a:tcPr marL="85725" marR="85725" marT="47625" marB="47625"/>
                </a:tc>
                <a:extLst>
                  <a:ext uri="{0D108BD9-81ED-4DB2-BD59-A6C34878D82A}">
                    <a16:rowId xmlns:a16="http://schemas.microsoft.com/office/drawing/2014/main" val="1501540868"/>
                  </a:ext>
                </a:extLst>
              </a:tr>
              <a:tr h="244776">
                <a:tc>
                  <a:txBody>
                    <a:bodyPr/>
                    <a:lstStyle/>
                    <a:p>
                      <a:pPr algn="l" fontAlgn="t" latinLnBrk="0">
                        <a:buNone/>
                      </a:pPr>
                      <a:r>
                        <a:rPr lang="pt-BR" b="0" dirty="0">
                          <a:effectLst/>
                        </a:rPr>
                        <a:t>Neutros</a:t>
                      </a:r>
                    </a:p>
                  </a:txBody>
                  <a:tcPr marL="85725" marR="85725" marT="47625" marB="47625"/>
                </a:tc>
                <a:tc>
                  <a:txBody>
                    <a:bodyPr/>
                    <a:lstStyle/>
                    <a:p>
                      <a:pPr algn="l" fontAlgn="t" latinLnBrk="0">
                        <a:buNone/>
                      </a:pPr>
                      <a:r>
                        <a:rPr lang="pt-BR" b="0" dirty="0">
                          <a:effectLst/>
                        </a:rPr>
                        <a:t>281</a:t>
                      </a:r>
                    </a:p>
                  </a:txBody>
                  <a:tcPr marL="85725" marR="85725" marT="47625" marB="47625"/>
                </a:tc>
                <a:extLst>
                  <a:ext uri="{0D108BD9-81ED-4DB2-BD59-A6C34878D82A}">
                    <a16:rowId xmlns:a16="http://schemas.microsoft.com/office/drawing/2014/main" val="3869073880"/>
                  </a:ext>
                </a:extLst>
              </a:tr>
              <a:tr h="244776">
                <a:tc>
                  <a:txBody>
                    <a:bodyPr/>
                    <a:lstStyle/>
                    <a:p>
                      <a:pPr algn="l" fontAlgn="t" latinLnBrk="0">
                        <a:buNone/>
                      </a:pPr>
                      <a:r>
                        <a:rPr lang="pt-BR" b="0" dirty="0">
                          <a:effectLst/>
                        </a:rPr>
                        <a:t>Promotores</a:t>
                      </a:r>
                    </a:p>
                  </a:txBody>
                  <a:tcPr marL="85725" marR="85725" marT="47625" marB="47625"/>
                </a:tc>
                <a:tc>
                  <a:txBody>
                    <a:bodyPr/>
                    <a:lstStyle/>
                    <a:p>
                      <a:pPr algn="l" fontAlgn="t" latinLnBrk="0">
                        <a:buNone/>
                      </a:pPr>
                      <a:r>
                        <a:rPr lang="pt-BR" b="0" dirty="0">
                          <a:effectLst/>
                        </a:rPr>
                        <a:t>110</a:t>
                      </a:r>
                    </a:p>
                  </a:txBody>
                  <a:tcPr marL="85725" marR="85725" marT="47625" marB="47625"/>
                </a:tc>
                <a:extLst>
                  <a:ext uri="{0D108BD9-81ED-4DB2-BD59-A6C34878D82A}">
                    <a16:rowId xmlns:a16="http://schemas.microsoft.com/office/drawing/2014/main" val="344363383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395823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5900" y="133350"/>
            <a:ext cx="6172200" cy="1143000"/>
          </a:xfrm>
        </p:spPr>
        <p:txBody>
          <a:bodyPr>
            <a:normAutofit fontScale="90000"/>
          </a:bodyPr>
          <a:lstStyle/>
          <a:p>
            <a:r>
              <a:rPr lang="pt-BR" noProof="0" dirty="0"/>
              <a:t>Principais insights da EDA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90228" y="1375476"/>
            <a:ext cx="7858447" cy="4525963"/>
          </a:xfrm>
        </p:spPr>
        <p:txBody>
          <a:bodyPr>
            <a:normAutofit/>
          </a:bodyPr>
          <a:lstStyle/>
          <a:p>
            <a:pPr>
              <a:defRPr sz="2000"/>
            </a:pPr>
            <a:r>
              <a:rPr lang="pt-BR" noProof="0" dirty="0"/>
              <a:t>Atraso na entrega: </a:t>
            </a:r>
          </a:p>
          <a:p>
            <a:pPr lvl="1">
              <a:defRPr sz="2000"/>
            </a:pPr>
            <a:r>
              <a:rPr lang="pt-BR" noProof="0" dirty="0"/>
              <a:t>Quando não há atraso, a nota média é muito maior; </a:t>
            </a:r>
          </a:p>
          <a:p>
            <a:pPr lvl="1">
              <a:defRPr sz="2000"/>
            </a:pPr>
            <a:r>
              <a:rPr lang="pt-BR" noProof="0" dirty="0"/>
              <a:t>Com 4+ dias de atraso, a nota despenca.</a:t>
            </a: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AD9E3E79-2908-EAE8-8BDA-0141FFC880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5157" y="2800350"/>
            <a:ext cx="6545135" cy="320021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E91C78-16F0-1411-AFE2-00422907E2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EB1B2D-D5A0-7FCC-28EC-2EA804D3D5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85900" y="133350"/>
            <a:ext cx="6172200" cy="1143000"/>
          </a:xfrm>
        </p:spPr>
        <p:txBody>
          <a:bodyPr>
            <a:normAutofit fontScale="90000"/>
          </a:bodyPr>
          <a:lstStyle/>
          <a:p>
            <a:r>
              <a:rPr lang="pt-BR" noProof="0" dirty="0"/>
              <a:t>Principais insights da EDA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6FB212-D04C-9121-DBD4-CAD088ECEE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0228" y="1375476"/>
            <a:ext cx="7858447" cy="4525963"/>
          </a:xfrm>
        </p:spPr>
        <p:txBody>
          <a:bodyPr>
            <a:normAutofit/>
          </a:bodyPr>
          <a:lstStyle/>
          <a:p>
            <a:pPr>
              <a:defRPr sz="2000"/>
            </a:pPr>
            <a:r>
              <a:rPr lang="pt-BR" noProof="0" dirty="0"/>
              <a:t>Reclamações e contatos com atendimento acompanham queda forte do NPS.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F9C1848E-532D-F9F7-10B0-B55B21769D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516" y="2278812"/>
            <a:ext cx="7725256" cy="27192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64980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8FA057-2AD0-C0AF-2073-30EC0A0F81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D8CDCB-D170-867B-0326-C902DB1C3A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85900" y="133350"/>
            <a:ext cx="6172200" cy="1143000"/>
          </a:xfrm>
        </p:spPr>
        <p:txBody>
          <a:bodyPr>
            <a:normAutofit fontScale="90000"/>
          </a:bodyPr>
          <a:lstStyle/>
          <a:p>
            <a:r>
              <a:rPr lang="pt-BR" noProof="0" dirty="0"/>
              <a:t>Principais insights da EDA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11DF17-3E5B-4A9D-0DD3-6DD78A0CDD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0228" y="1375476"/>
            <a:ext cx="8306122" cy="4525963"/>
          </a:xfrm>
        </p:spPr>
        <p:txBody>
          <a:bodyPr>
            <a:normAutofit/>
          </a:bodyPr>
          <a:lstStyle/>
          <a:p>
            <a:pPr>
              <a:defRPr sz="2000"/>
            </a:pPr>
            <a:r>
              <a:rPr lang="pt-BR" noProof="0" dirty="0"/>
              <a:t>Regiões: </a:t>
            </a:r>
          </a:p>
          <a:p>
            <a:pPr lvl="1">
              <a:defRPr sz="2000"/>
            </a:pPr>
            <a:r>
              <a:rPr lang="pt-BR" noProof="0" dirty="0"/>
              <a:t>Pouca diferença entre regiões.</a:t>
            </a:r>
          </a:p>
          <a:p>
            <a:pPr lvl="1">
              <a:defRPr sz="2000"/>
            </a:pPr>
            <a:r>
              <a:rPr lang="pt-BR" noProof="0" dirty="0"/>
              <a:t>O gargalo </a:t>
            </a:r>
            <a:r>
              <a:rPr lang="pt-BR" dirty="0"/>
              <a:t>está mais ligada a </a:t>
            </a:r>
            <a:r>
              <a:rPr lang="pt-BR" noProof="0" dirty="0"/>
              <a:t>execução de modo geral, não localizado em regiões.</a:t>
            </a: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E358F9AB-FB68-3303-00E1-416B9DCD3FC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50000"/>
          <a:stretch>
            <a:fillRect/>
          </a:stretch>
        </p:blipFill>
        <p:spPr>
          <a:xfrm>
            <a:off x="2457289" y="3000952"/>
            <a:ext cx="4572000" cy="32186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62779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F85F83-F5F9-1A42-673B-6D6423E9CD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02AE01-DCB4-4F40-88C7-FDB74ECF1E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85900" y="133350"/>
            <a:ext cx="6172200" cy="1143000"/>
          </a:xfrm>
        </p:spPr>
        <p:txBody>
          <a:bodyPr>
            <a:normAutofit fontScale="90000"/>
          </a:bodyPr>
          <a:lstStyle/>
          <a:p>
            <a:r>
              <a:rPr lang="pt-BR" noProof="0" dirty="0"/>
              <a:t>Principais insights da EDA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B0A45C-4A54-CEE6-A809-9E29566398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0228" y="1375476"/>
            <a:ext cx="8306122" cy="4525963"/>
          </a:xfrm>
        </p:spPr>
        <p:txBody>
          <a:bodyPr>
            <a:normAutofit/>
          </a:bodyPr>
          <a:lstStyle/>
          <a:p>
            <a:pPr>
              <a:defRPr sz="2000"/>
            </a:pPr>
            <a:r>
              <a:rPr lang="pt-BR" dirty="0"/>
              <a:t>Onde a experiência quebra:</a:t>
            </a:r>
          </a:p>
          <a:p>
            <a:pPr lvl="1">
              <a:defRPr sz="2000"/>
            </a:pPr>
            <a:r>
              <a:rPr lang="pt-BR" noProof="0" dirty="0"/>
              <a:t>A combinação de mais de 3 reclamações e mais de 4 dias de atraso mostra claramente o impacto no NPS.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5327509B-2D77-0A21-69E4-0674D22E54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1392" y="2686050"/>
            <a:ext cx="6623794" cy="36899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1264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9690" y="171450"/>
            <a:ext cx="8604310" cy="1143000"/>
          </a:xfrm>
        </p:spPr>
        <p:txBody>
          <a:bodyPr>
            <a:normAutofit/>
          </a:bodyPr>
          <a:lstStyle/>
          <a:p>
            <a:pPr algn="ctr"/>
            <a:r>
              <a:rPr lang="pt-BR" sz="3600" noProof="0" dirty="0"/>
              <a:t>Fatores que mais impactam a satisfação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5826" y="1505310"/>
            <a:ext cx="8134710" cy="4525963"/>
          </a:xfrm>
        </p:spPr>
        <p:txBody>
          <a:bodyPr/>
          <a:lstStyle/>
          <a:p>
            <a:pPr>
              <a:defRPr sz="2000"/>
            </a:pPr>
            <a:r>
              <a:rPr lang="pt-BR" noProof="0" dirty="0"/>
              <a:t>CSAT interno acompanha o NPS — bom alinhamento de indicadores, mas grande dispersão: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76E6D82C-BEF3-58E2-3F06-6EAD5484D3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00231" y="2297834"/>
            <a:ext cx="4762499" cy="3924299"/>
          </a:xfrm>
          <a:prstGeom prst="rect">
            <a:avLst/>
          </a:prstGeom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id="{973F90CD-0D3D-6D24-4BAA-B35774D0A819}"/>
              </a:ext>
            </a:extLst>
          </p:cNvPr>
          <p:cNvSpPr txBox="1"/>
          <p:nvPr/>
        </p:nvSpPr>
        <p:spPr>
          <a:xfrm>
            <a:off x="689979" y="2891128"/>
            <a:ext cx="323850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Os dois indicadores caminham juntos na maior parte dos casos, mas não são a mesma coisa — por isso precisamos dos dois e de um melhor entendimento da operação.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E224F9-ADCA-645B-0FB1-B15FAF2F6C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29E095-E953-1B02-2AD5-1B957F185E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9690" y="171450"/>
            <a:ext cx="8604310" cy="1143000"/>
          </a:xfrm>
        </p:spPr>
        <p:txBody>
          <a:bodyPr>
            <a:normAutofit/>
          </a:bodyPr>
          <a:lstStyle/>
          <a:p>
            <a:pPr algn="ctr"/>
            <a:r>
              <a:rPr lang="pt-BR" sz="3600" noProof="0" dirty="0"/>
              <a:t>Fatores que mais impactam a satisfação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0E23A3-4847-118C-7423-CE73E76602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5801" y="1505310"/>
            <a:ext cx="2867924" cy="4714515"/>
          </a:xfrm>
        </p:spPr>
        <p:txBody>
          <a:bodyPr>
            <a:normAutofit lnSpcReduction="10000"/>
          </a:bodyPr>
          <a:lstStyle/>
          <a:p>
            <a:pPr>
              <a:defRPr sz="2000"/>
            </a:pPr>
            <a:r>
              <a:rPr lang="pt-BR" b="1" noProof="0" dirty="0"/>
              <a:t>Resumo analítico</a:t>
            </a:r>
            <a:r>
              <a:rPr lang="pt-BR" noProof="0" dirty="0"/>
              <a:t>:</a:t>
            </a:r>
            <a:br>
              <a:rPr lang="pt-BR" noProof="0" dirty="0"/>
            </a:br>
            <a:br>
              <a:rPr lang="pt-BR" noProof="0" dirty="0"/>
            </a:br>
            <a:r>
              <a:rPr lang="pt-BR" noProof="0" dirty="0"/>
              <a:t>Principais variáveis negativas:</a:t>
            </a:r>
          </a:p>
          <a:p>
            <a:pPr lvl="1">
              <a:defRPr sz="2000"/>
            </a:pPr>
            <a:r>
              <a:rPr lang="pt-BR" sz="1800" dirty="0"/>
              <a:t>Dias para entrega</a:t>
            </a:r>
          </a:p>
          <a:p>
            <a:pPr lvl="1">
              <a:defRPr sz="2000"/>
            </a:pPr>
            <a:r>
              <a:rPr lang="pt-BR" sz="1800" noProof="0" dirty="0"/>
              <a:t>Contatos com o serviço ao cliente</a:t>
            </a:r>
          </a:p>
          <a:p>
            <a:pPr lvl="1">
              <a:defRPr sz="2000"/>
            </a:pPr>
            <a:r>
              <a:rPr lang="pt-BR" sz="1800" dirty="0"/>
              <a:t>Dias para resolução.</a:t>
            </a:r>
          </a:p>
          <a:p>
            <a:pPr lvl="1">
              <a:defRPr sz="2000"/>
            </a:pPr>
            <a:r>
              <a:rPr lang="pt-BR" sz="1800" noProof="0" dirty="0"/>
              <a:t>Contagem de reclamações.</a:t>
            </a:r>
          </a:p>
          <a:p>
            <a:pPr>
              <a:defRPr sz="2000"/>
            </a:pPr>
            <a:endParaRPr lang="pt-BR" sz="1800" dirty="0"/>
          </a:p>
          <a:p>
            <a:pPr>
              <a:defRPr sz="2000"/>
            </a:pPr>
            <a:r>
              <a:rPr lang="pt-BR" sz="1800" dirty="0"/>
              <a:t>Diversas variáveis não tiveram influência em NPS e CSAT.</a:t>
            </a:r>
            <a:endParaRPr lang="pt-BR" sz="1800" noProof="0" dirty="0"/>
          </a:p>
          <a:p>
            <a:pPr lvl="1">
              <a:defRPr sz="2000"/>
            </a:pPr>
            <a:endParaRPr lang="pt-BR" noProof="0" dirty="0"/>
          </a:p>
          <a:p>
            <a:pPr lvl="1">
              <a:defRPr sz="2000"/>
            </a:pPr>
            <a:endParaRPr lang="pt-BR" noProof="0" dirty="0"/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E65BB6D2-F0CA-0D69-DB73-A5B33287B4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4133" y="1261699"/>
            <a:ext cx="5894617" cy="51775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145204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5900" y="0"/>
            <a:ext cx="6172200" cy="1143000"/>
          </a:xfrm>
        </p:spPr>
        <p:txBody>
          <a:bodyPr>
            <a:normAutofit/>
          </a:bodyPr>
          <a:lstStyle/>
          <a:p>
            <a:r>
              <a:rPr lang="pt-BR" noProof="0"/>
              <a:t>Recomendações práticas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7496" y="1600201"/>
            <a:ext cx="8249009" cy="4525963"/>
          </a:xfrm>
        </p:spPr>
        <p:txBody>
          <a:bodyPr/>
          <a:lstStyle/>
          <a:p>
            <a:pPr>
              <a:defRPr sz="2000"/>
            </a:pPr>
            <a:r>
              <a:rPr lang="pt-BR" noProof="0"/>
              <a:t>Plano de ação para atraso ≥ 4 dias: comunicação proativa + compensação.</a:t>
            </a:r>
          </a:p>
          <a:p>
            <a:pPr>
              <a:defRPr sz="2000"/>
            </a:pPr>
            <a:r>
              <a:rPr lang="pt-BR" noProof="0" dirty="0"/>
              <a:t>Priorizar root-cause de reclamações:</a:t>
            </a:r>
          </a:p>
          <a:p>
            <a:pPr lvl="1">
              <a:defRPr sz="2000"/>
            </a:pPr>
            <a:r>
              <a:rPr lang="pt-BR" noProof="0" dirty="0"/>
              <a:t>Embalagem.</a:t>
            </a:r>
          </a:p>
          <a:p>
            <a:pPr lvl="1">
              <a:defRPr sz="2000"/>
            </a:pPr>
            <a:r>
              <a:rPr lang="pt-BR" noProof="0" dirty="0"/>
              <a:t>Transportadora.</a:t>
            </a:r>
          </a:p>
          <a:p>
            <a:pPr lvl="1">
              <a:defRPr sz="2000"/>
            </a:pPr>
            <a:r>
              <a:rPr lang="pt-BR" noProof="0" dirty="0"/>
              <a:t>Promessa.</a:t>
            </a:r>
          </a:p>
          <a:p>
            <a:pPr lvl="1">
              <a:defRPr sz="2000"/>
            </a:pPr>
            <a:r>
              <a:rPr lang="pt-BR" noProof="0" dirty="0"/>
              <a:t>Produto</a:t>
            </a:r>
          </a:p>
          <a:p>
            <a:pPr>
              <a:defRPr sz="2000"/>
            </a:pPr>
            <a:r>
              <a:rPr lang="pt-BR" noProof="0" dirty="0"/>
              <a:t>Reduzir necessidade de contato: rastreio claro e expectativa de prazo.</a:t>
            </a:r>
          </a:p>
          <a:p>
            <a:pPr>
              <a:defRPr sz="2000"/>
            </a:pPr>
            <a:r>
              <a:rPr lang="pt-BR" noProof="0" dirty="0"/>
              <a:t>Pilotar fila de risco com score preditivo antes da pesquisa NPS.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6275" y="0"/>
            <a:ext cx="7511451" cy="1143000"/>
          </a:xfrm>
        </p:spPr>
        <p:txBody>
          <a:bodyPr>
            <a:normAutofit/>
          </a:bodyPr>
          <a:lstStyle/>
          <a:p>
            <a:r>
              <a:rPr lang="pt-BR" noProof="0" dirty="0"/>
              <a:t>Modelo preditivo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23540" y="1246519"/>
            <a:ext cx="4867635" cy="429882"/>
          </a:xfrm>
        </p:spPr>
        <p:txBody>
          <a:bodyPr/>
          <a:lstStyle/>
          <a:p>
            <a:pPr>
              <a:defRPr sz="2000"/>
            </a:pPr>
            <a:r>
              <a:rPr lang="pt-BR" b="1" i="1" dirty="0"/>
              <a:t>Mapa de prioridades do modelo</a:t>
            </a:r>
            <a:endParaRPr lang="pt-BR" noProof="0" dirty="0"/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A906637F-C0FD-E253-8235-18884CCEF8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3540" y="1757605"/>
            <a:ext cx="5010510" cy="3092491"/>
          </a:xfrm>
          <a:prstGeom prst="rect">
            <a:avLst/>
          </a:prstGeom>
        </p:spPr>
      </p:pic>
      <p:sp>
        <p:nvSpPr>
          <p:cNvPr id="11" name="CaixaDeTexto 10">
            <a:extLst>
              <a:ext uri="{FF2B5EF4-FFF2-40B4-BE49-F238E27FC236}">
                <a16:creationId xmlns:a16="http://schemas.microsoft.com/office/drawing/2014/main" id="{3F81420E-C21D-4479-414F-F0A5411601D5}"/>
              </a:ext>
            </a:extLst>
          </p:cNvPr>
          <p:cNvSpPr txBox="1"/>
          <p:nvPr/>
        </p:nvSpPr>
        <p:spPr>
          <a:xfrm>
            <a:off x="3733800" y="5033817"/>
            <a:ext cx="5105759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pt-BR" b="0" i="1" dirty="0">
                <a:effectLst/>
                <a:latin typeface="Segoe WPC"/>
              </a:rPr>
              <a:t>Este gráfico mostra </a:t>
            </a:r>
            <a:r>
              <a:rPr lang="pt-BR" b="1" i="1" dirty="0">
                <a:effectLst/>
                <a:latin typeface="Segoe WPC"/>
              </a:rPr>
              <a:t>o que o modelo usa mais</a:t>
            </a:r>
            <a:r>
              <a:rPr lang="pt-BR" b="0" i="1" dirty="0">
                <a:effectLst/>
                <a:latin typeface="Segoe WPC"/>
              </a:rPr>
              <a:t> para estimar o NPS: principalmente sinais de </a:t>
            </a:r>
            <a:r>
              <a:rPr lang="pt-BR" b="1" i="1" dirty="0">
                <a:effectLst/>
                <a:latin typeface="Segoe WPC"/>
              </a:rPr>
              <a:t>problema na jornada</a:t>
            </a:r>
            <a:r>
              <a:rPr lang="pt-BR" b="0" i="1" dirty="0">
                <a:effectLst/>
                <a:latin typeface="Segoe WPC"/>
              </a:rPr>
              <a:t> (atraso, reclamações) e também variáveis que </a:t>
            </a:r>
            <a:r>
              <a:rPr lang="pt-BR" b="1" i="1" dirty="0">
                <a:effectLst/>
                <a:latin typeface="Segoe WPC"/>
              </a:rPr>
              <a:t>andam muito juntas</a:t>
            </a:r>
            <a:r>
              <a:rPr lang="pt-BR" b="0" i="1" dirty="0">
                <a:effectLst/>
                <a:latin typeface="Segoe WPC"/>
              </a:rPr>
              <a:t> com o resultado, como a </a:t>
            </a:r>
            <a:r>
              <a:rPr lang="pt-BR" b="1" i="1" dirty="0">
                <a:effectLst/>
                <a:latin typeface="Segoe WPC"/>
              </a:rPr>
              <a:t>recompra recente.</a:t>
            </a:r>
            <a:endParaRPr lang="pt-BR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05A96A-A7AB-79FE-68DB-5955DCBDF0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D4DAD9-C868-AB34-CAEA-BCC9426B7C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6275" y="132093"/>
            <a:ext cx="7511451" cy="1143000"/>
          </a:xfrm>
        </p:spPr>
        <p:txBody>
          <a:bodyPr>
            <a:normAutofit/>
          </a:bodyPr>
          <a:lstStyle/>
          <a:p>
            <a:r>
              <a:rPr lang="pt-BR" noProof="0" dirty="0"/>
              <a:t>Modelo preditivo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21A60B-12B4-8DBA-8307-7A51FEDE92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3540" y="1246518"/>
            <a:ext cx="7696919" cy="4525963"/>
          </a:xfrm>
        </p:spPr>
        <p:txBody>
          <a:bodyPr/>
          <a:lstStyle/>
          <a:p>
            <a:pPr>
              <a:defRPr sz="2000"/>
            </a:pPr>
            <a:r>
              <a:rPr lang="pt-BR" noProof="0" dirty="0"/>
              <a:t>Usa dados de pedido, logística e atendimento para estimar o NPS.</a:t>
            </a:r>
          </a:p>
          <a:p>
            <a:pPr>
              <a:defRPr sz="2000"/>
            </a:pPr>
            <a:r>
              <a:rPr lang="pt-BR" noProof="0" dirty="0"/>
              <a:t>Ajuda a priorizar onde logística e SAC agem antes da pesquisa.</a:t>
            </a:r>
          </a:p>
          <a:p>
            <a:pPr>
              <a:defRPr sz="2000"/>
            </a:pPr>
            <a:r>
              <a:rPr lang="pt-BR" noProof="0" dirty="0"/>
              <a:t>Variáveis mais relevantes: atraso, reclamações e sinais de fricção no atendimento.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83958369-66DA-3BCE-4D91-ABF5235A0A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3584" y="2986098"/>
            <a:ext cx="3536831" cy="3522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407836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5900" y="0"/>
            <a:ext cx="6172200" cy="1143000"/>
          </a:xfrm>
        </p:spPr>
        <p:txBody>
          <a:bodyPr/>
          <a:lstStyle/>
          <a:p>
            <a:r>
              <a:rPr lang="pt-BR" noProof="0"/>
              <a:t>Limitações e riscos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5737" y="1600201"/>
            <a:ext cx="8352526" cy="4525963"/>
          </a:xfrm>
        </p:spPr>
        <p:txBody>
          <a:bodyPr/>
          <a:lstStyle/>
          <a:p>
            <a:pPr>
              <a:defRPr sz="2000"/>
            </a:pPr>
            <a:r>
              <a:rPr lang="pt-BR" noProof="0"/>
              <a:t>Correlação não implica causa: validar com pilotos e experimentos.</a:t>
            </a:r>
          </a:p>
          <a:p>
            <a:pPr>
              <a:defRPr sz="2000"/>
            </a:pPr>
            <a:r>
              <a:rPr lang="pt-BR" noProof="0" dirty="0"/>
              <a:t>Modelo pode mudar com sazonalidade, greves ou mudança de transportadora.</a:t>
            </a:r>
          </a:p>
          <a:p>
            <a:pPr>
              <a:defRPr sz="2000"/>
            </a:pPr>
            <a:r>
              <a:rPr lang="pt-BR" noProof="0" dirty="0"/>
              <a:t>Uso responsável: apoio à decisão, não punição automática de times ou clientes.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5900" y="0"/>
            <a:ext cx="6172200" cy="1143000"/>
          </a:xfrm>
        </p:spPr>
        <p:txBody>
          <a:bodyPr/>
          <a:lstStyle/>
          <a:p>
            <a:r>
              <a:rPr lang="pt-BR" noProof="0"/>
              <a:t>Próximos passos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7521" y="1181820"/>
            <a:ext cx="8688957" cy="4525963"/>
          </a:xfrm>
        </p:spPr>
        <p:txBody>
          <a:bodyPr/>
          <a:lstStyle/>
          <a:p>
            <a:pPr>
              <a:defRPr sz="2000"/>
            </a:pPr>
            <a:r>
              <a:rPr dirty="0" err="1"/>
              <a:t>Inserir</a:t>
            </a:r>
            <a:r>
              <a:rPr dirty="0"/>
              <a:t> </a:t>
            </a:r>
            <a:r>
              <a:rPr dirty="0" err="1"/>
              <a:t>nos</a:t>
            </a:r>
            <a:r>
              <a:rPr dirty="0"/>
              <a:t> slides as </a:t>
            </a:r>
            <a:r>
              <a:rPr dirty="0" err="1"/>
              <a:t>figuras</a:t>
            </a:r>
            <a:r>
              <a:rPr dirty="0"/>
              <a:t> da pasta reports/ (</a:t>
            </a:r>
            <a:r>
              <a:rPr dirty="0" err="1"/>
              <a:t>gráficos</a:t>
            </a:r>
            <a:r>
              <a:rPr dirty="0"/>
              <a:t> da EDA e do </a:t>
            </a:r>
            <a:r>
              <a:rPr dirty="0" err="1"/>
              <a:t>modelo</a:t>
            </a:r>
            <a:r>
              <a:rPr dirty="0"/>
              <a:t>).</a:t>
            </a:r>
          </a:p>
          <a:p>
            <a:pPr>
              <a:defRPr sz="2000"/>
            </a:pPr>
            <a:r>
              <a:rPr dirty="0" err="1"/>
              <a:t>Definir</a:t>
            </a:r>
            <a:r>
              <a:rPr dirty="0"/>
              <a:t> </a:t>
            </a:r>
            <a:r>
              <a:rPr dirty="0" err="1"/>
              <a:t>piloto</a:t>
            </a:r>
            <a:r>
              <a:rPr dirty="0"/>
              <a:t> </a:t>
            </a:r>
            <a:r>
              <a:rPr dirty="0" err="1"/>
              <a:t>em</a:t>
            </a:r>
            <a:r>
              <a:rPr dirty="0"/>
              <a:t> </a:t>
            </a:r>
            <a:r>
              <a:rPr dirty="0" err="1"/>
              <a:t>uma</a:t>
            </a:r>
            <a:r>
              <a:rPr dirty="0"/>
              <a:t> </a:t>
            </a:r>
            <a:r>
              <a:rPr dirty="0" err="1"/>
              <a:t>região</a:t>
            </a:r>
            <a:r>
              <a:rPr dirty="0"/>
              <a:t> </a:t>
            </a:r>
            <a:r>
              <a:rPr dirty="0" err="1"/>
              <a:t>ou</a:t>
            </a:r>
            <a:r>
              <a:rPr dirty="0"/>
              <a:t> </a:t>
            </a:r>
            <a:r>
              <a:rPr dirty="0" err="1"/>
              <a:t>categoria</a:t>
            </a:r>
            <a:r>
              <a:rPr dirty="0"/>
              <a:t> e </a:t>
            </a:r>
            <a:r>
              <a:rPr dirty="0" err="1"/>
              <a:t>acompanhar</a:t>
            </a:r>
            <a:r>
              <a:rPr dirty="0"/>
              <a:t> NPS real vs </a:t>
            </a:r>
            <a:r>
              <a:rPr dirty="0" err="1"/>
              <a:t>predito</a:t>
            </a:r>
            <a:r>
              <a:rPr dirty="0"/>
              <a:t>.</a:t>
            </a:r>
          </a:p>
          <a:p>
            <a:pPr>
              <a:defRPr sz="2000"/>
            </a:pPr>
            <a:r>
              <a:rPr dirty="0" err="1"/>
              <a:t>Alinhar</a:t>
            </a:r>
            <a:r>
              <a:rPr dirty="0"/>
              <a:t> OKRs de </a:t>
            </a:r>
            <a:r>
              <a:rPr dirty="0" err="1"/>
              <a:t>logística</a:t>
            </a:r>
            <a:r>
              <a:rPr dirty="0"/>
              <a:t> e SAC </a:t>
            </a:r>
            <a:r>
              <a:rPr dirty="0" err="1"/>
              <a:t>às</a:t>
            </a:r>
            <a:r>
              <a:rPr dirty="0"/>
              <a:t> </a:t>
            </a:r>
            <a:r>
              <a:rPr dirty="0" err="1"/>
              <a:t>alavancas</a:t>
            </a:r>
            <a:r>
              <a:rPr dirty="0"/>
              <a:t> </a:t>
            </a:r>
            <a:r>
              <a:rPr dirty="0" err="1"/>
              <a:t>identificadas</a:t>
            </a:r>
            <a:r>
              <a:rPr dirty="0"/>
              <a:t>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ortar">
  <a:themeElements>
    <a:clrScheme name="Cortar">
      <a:dk1>
        <a:sysClr val="windowText" lastClr="000000"/>
      </a:dk1>
      <a:lt1>
        <a:sysClr val="window" lastClr="FFFFFF"/>
      </a:lt1>
      <a:dk2>
        <a:srgbClr val="191B0E"/>
      </a:dk2>
      <a:lt2>
        <a:srgbClr val="EFEDE3"/>
      </a:lt2>
      <a:accent1>
        <a:srgbClr val="8C8D86"/>
      </a:accent1>
      <a:accent2>
        <a:srgbClr val="E6C069"/>
      </a:accent2>
      <a:accent3>
        <a:srgbClr val="897B61"/>
      </a:accent3>
      <a:accent4>
        <a:srgbClr val="8DAB8E"/>
      </a:accent4>
      <a:accent5>
        <a:srgbClr val="77A2BB"/>
      </a:accent5>
      <a:accent6>
        <a:srgbClr val="E28394"/>
      </a:accent6>
      <a:hlink>
        <a:srgbClr val="77A2BB"/>
      </a:hlink>
      <a:folHlink>
        <a:srgbClr val="957A99"/>
      </a:folHlink>
    </a:clrScheme>
    <a:fontScheme name="Cortar">
      <a:maj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Cortar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34925" cap="flat" cmpd="sng" algn="in">
          <a:solidFill>
            <a:schemeClr val="phClr"/>
          </a:solidFill>
          <a:prstDash val="solid"/>
        </a:ln>
        <a:ln w="1905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rop" id="{EC9488ED-E761-4D60-9AC4-764D1FE2C171}" vid="{CE19780C-D67D-4C13-9DE9-A52BC3BA51B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TM10001105[[fn=Cortar]]</Template>
  <TotalTime>2125</TotalTime>
  <Words>563</Words>
  <Application>Microsoft Office PowerPoint</Application>
  <PresentationFormat>Apresentação na tela (4:3)</PresentationFormat>
  <Paragraphs>72</Paragraphs>
  <Slides>15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15</vt:i4>
      </vt:variant>
    </vt:vector>
  </HeadingPairs>
  <TitlesOfParts>
    <vt:vector size="18" baseType="lpstr">
      <vt:lpstr>Franklin Gothic Book</vt:lpstr>
      <vt:lpstr>Segoe WPC</vt:lpstr>
      <vt:lpstr>Cortar</vt:lpstr>
      <vt:lpstr>NPS Preditivo — Tech Challenge Fase 1</vt:lpstr>
      <vt:lpstr>Contexto do problema</vt:lpstr>
      <vt:lpstr>Perguntas que orientam a análise</vt:lpstr>
      <vt:lpstr>Principais insights da EDA</vt:lpstr>
      <vt:lpstr>Principais insights da EDA</vt:lpstr>
      <vt:lpstr>Principais insights da EDA</vt:lpstr>
      <vt:lpstr>Principais insights da EDA</vt:lpstr>
      <vt:lpstr>Principais insights da EDA</vt:lpstr>
      <vt:lpstr>Fatores que mais impactam a satisfação</vt:lpstr>
      <vt:lpstr>Fatores que mais impactam a satisfação</vt:lpstr>
      <vt:lpstr>Recomendações práticas</vt:lpstr>
      <vt:lpstr>Modelo preditivo</vt:lpstr>
      <vt:lpstr>Modelo preditivo</vt:lpstr>
      <vt:lpstr>Limitações e riscos</vt:lpstr>
      <vt:lpstr>Próximos passos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Raphael Reis</dc:creator>
  <cp:keywords/>
  <dc:description>generated using python-pptx</dc:description>
  <cp:lastModifiedBy>Raphael Reis</cp:lastModifiedBy>
  <cp:revision>6</cp:revision>
  <dcterms:created xsi:type="dcterms:W3CDTF">2013-01-27T09:14:16Z</dcterms:created>
  <dcterms:modified xsi:type="dcterms:W3CDTF">2026-05-06T00:56:40Z</dcterms:modified>
  <cp:category/>
</cp:coreProperties>
</file>