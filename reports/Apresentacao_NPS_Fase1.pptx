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0" r:id="rId1"/>
  </p:sldMasterIdLst>
  <p:sldIdLst>
    <p:sldId id="256" r:id="rId2"/>
    <p:sldId id="257" r:id="rId3"/>
    <p:sldId id="258" r:id="rId4"/>
    <p:sldId id="265" r:id="rId5"/>
    <p:sldId id="259" r:id="rId6"/>
    <p:sldId id="267" r:id="rId7"/>
    <p:sldId id="266" r:id="rId8"/>
    <p:sldId id="260" r:id="rId9"/>
    <p:sldId id="268" r:id="rId10"/>
    <p:sldId id="261" r:id="rId11"/>
    <p:sldId id="262" r:id="rId12"/>
    <p:sldId id="263" r:id="rId13"/>
    <p:sldId id="264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Estilo Claro 2 - Ênfas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1794" y="318"/>
      </p:cViewPr>
      <p:guideLst>
        <p:guide orient="horz" pos="216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788454"/>
            <a:ext cx="6270922" cy="2098226"/>
          </a:xfrm>
        </p:spPr>
        <p:txBody>
          <a:bodyPr anchor="b">
            <a:noAutofit/>
          </a:bodyPr>
          <a:lstStyle>
            <a:lvl1pPr algn="ctr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3956280"/>
            <a:ext cx="5123755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6453386"/>
            <a:ext cx="1205958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6453386"/>
            <a:ext cx="5267533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6453386"/>
            <a:ext cx="1197219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564643" y="744469"/>
            <a:ext cx="8005589" cy="5349671"/>
            <a:chOff x="564643" y="744469"/>
            <a:chExt cx="8005589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6113972" y="1685652"/>
              <a:ext cx="2456260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357"/>
                  </a:lnTo>
                  <a:lnTo>
                    <a:pt x="8761" y="935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564643" y="744469"/>
              <a:ext cx="2456505" cy="4408488"/>
            </a:xfrm>
            <a:custGeom>
              <a:avLst/>
              <a:gdLst/>
              <a:ahLst/>
              <a:cxnLst/>
              <a:rect l="l" t="t" r="r" b="b"/>
              <a:pathLst>
                <a:path w="10001" h="10000">
                  <a:moveTo>
                    <a:pt x="8762" y="0"/>
                  </a:moveTo>
                  <a:lnTo>
                    <a:pt x="10001" y="0"/>
                  </a:lnTo>
                  <a:lnTo>
                    <a:pt x="10001" y="10000"/>
                  </a:lnTo>
                  <a:lnTo>
                    <a:pt x="1" y="10000"/>
                  </a:lnTo>
                  <a:cubicBezTo>
                    <a:pt x="-2" y="9766"/>
                    <a:pt x="4" y="9586"/>
                    <a:pt x="1" y="9352"/>
                  </a:cubicBezTo>
                  <a:lnTo>
                    <a:pt x="8762" y="9346"/>
                  </a:lnTo>
                  <a:lnTo>
                    <a:pt x="8762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4212998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55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1301361"/>
            <a:ext cx="7209728" cy="2852737"/>
          </a:xfrm>
        </p:spPr>
        <p:txBody>
          <a:bodyPr anchor="b">
            <a:normAutofit/>
          </a:bodyPr>
          <a:lstStyle>
            <a:lvl1pPr algn="r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4216328"/>
            <a:ext cx="7209728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6453386"/>
            <a:ext cx="1216807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6453386"/>
            <a:ext cx="5267533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6113972" y="1685652"/>
            <a:ext cx="2456260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8" name="Freeform 7" title="Crop Mark"/>
          <p:cNvSpPr/>
          <p:nvPr/>
        </p:nvSpPr>
        <p:spPr bwMode="auto">
          <a:xfrm>
            <a:off x="6113972" y="1685652"/>
            <a:ext cx="2456260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652348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2286000"/>
            <a:ext cx="3335840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2286000"/>
            <a:ext cx="3335840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050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685800"/>
            <a:ext cx="72009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2340230"/>
            <a:ext cx="3335840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3305208"/>
            <a:ext cx="3335839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0" y="2349754"/>
            <a:ext cx="3335840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0" y="3305208"/>
            <a:ext cx="3335840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128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93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7284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397764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685800"/>
            <a:ext cx="289179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400" baseline="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685801"/>
            <a:ext cx="3909060" cy="517525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856344"/>
            <a:ext cx="2891790" cy="3011056"/>
          </a:xfrm>
        </p:spPr>
        <p:txBody>
          <a:bodyPr>
            <a:normAutofit/>
          </a:bodyPr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6453386"/>
            <a:ext cx="90342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6453386"/>
            <a:ext cx="1780256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 title="Divider Bar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35989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397764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685800"/>
            <a:ext cx="289179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400"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68579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855968"/>
            <a:ext cx="2891790" cy="3011432"/>
          </a:xfrm>
        </p:spPr>
        <p:txBody>
          <a:bodyPr>
            <a:normAutofit/>
          </a:bodyPr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6453386"/>
            <a:ext cx="90342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6453386"/>
            <a:ext cx="1780256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 title="Divider Bar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99330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2295526"/>
            <a:ext cx="7200900" cy="3571875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43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80797" y="624156"/>
            <a:ext cx="1490950" cy="5243244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624156"/>
            <a:ext cx="5724525" cy="5243244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74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685800"/>
            <a:ext cx="72009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2286000"/>
            <a:ext cx="72009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6453386"/>
            <a:ext cx="903429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6453386"/>
            <a:ext cx="4710623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6453386"/>
            <a:ext cx="1197219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58571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 title="Side bar"/>
          <p:cNvSpPr/>
          <p:nvPr/>
        </p:nvSpPr>
        <p:spPr>
          <a:xfrm>
            <a:off x="358571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738330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6858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0" orient="horz" pos="1368">
          <p15:clr>
            <a:srgbClr val="F26B43"/>
          </p15:clr>
        </p15:guide>
        <p15:guide id="1" pos="6912">
          <p15:clr>
            <a:srgbClr val="F26B43"/>
          </p15:clr>
        </p15:guide>
        <p15:guide id="2" pos="936">
          <p15:clr>
            <a:srgbClr val="F26B43"/>
          </p15:clr>
        </p15:guide>
        <p15:guide id="3" pos="864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696">
          <p15:clr>
            <a:srgbClr val="F26B43"/>
          </p15:clr>
        </p15:guide>
        <p15:guide id="6" orient="horz" pos="432">
          <p15:clr>
            <a:srgbClr val="F26B43"/>
          </p15:clr>
        </p15:guide>
        <p15:guide id="7" orient="horz" pos="1512">
          <p15:clr>
            <a:srgbClr val="F26B43"/>
          </p15:clr>
        </p15:guide>
        <p15:guide id="8" pos="5184">
          <p15:clr>
            <a:srgbClr val="F26B43"/>
          </p15:clr>
        </p15:guide>
        <p15:guide id="9" pos="702">
          <p15:clr>
            <a:srgbClr val="F26B43"/>
          </p15:clr>
        </p15:guide>
        <p15:guide id="10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áfico">
            <a:extLst>
              <a:ext uri="{FF2B5EF4-FFF2-40B4-BE49-F238E27FC236}">
                <a16:creationId xmlns:a16="http://schemas.microsoft.com/office/drawing/2014/main" id="{6D3A8D7E-F58D-0186-C156-CB957BF2CB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08" r="13974" b="-1"/>
          <a:stretch>
            <a:fillRect/>
          </a:stretch>
        </p:blipFill>
        <p:spPr>
          <a:xfrm>
            <a:off x="20" y="10"/>
            <a:ext cx="9143980" cy="68593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33867FC-EB8E-4B00-B7D5-7967D9DF1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30000">
                <a:schemeClr val="bg2">
                  <a:alpha val="75000"/>
                </a:schemeClr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6">
            <a:extLst>
              <a:ext uri="{FF2B5EF4-FFF2-40B4-BE49-F238E27FC236}">
                <a16:creationId xmlns:a16="http://schemas.microsoft.com/office/drawing/2014/main" id="{D69E00ED-B0F1-4570-A74E-E05D0E9A8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H="1" flipV="1">
            <a:off x="564643" y="744469"/>
            <a:ext cx="2456751" cy="4408488"/>
          </a:xfrm>
          <a:custGeom>
            <a:avLst/>
            <a:gdLst/>
            <a:ahLst/>
            <a:cxnLst/>
            <a:rect l="l" t="t" r="r" b="b"/>
            <a:pathLst>
              <a:path w="10002" h="10000">
                <a:moveTo>
                  <a:pt x="8763" y="0"/>
                </a:moveTo>
                <a:lnTo>
                  <a:pt x="10002" y="0"/>
                </a:lnTo>
                <a:lnTo>
                  <a:pt x="10002" y="10000"/>
                </a:lnTo>
                <a:lnTo>
                  <a:pt x="2" y="10000"/>
                </a:lnTo>
                <a:cubicBezTo>
                  <a:pt x="-2" y="9698"/>
                  <a:pt x="4" y="9427"/>
                  <a:pt x="0" y="9125"/>
                </a:cubicBezTo>
                <a:lnTo>
                  <a:pt x="8763" y="9128"/>
                </a:lnTo>
                <a:lnTo>
                  <a:pt x="8763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13" name="Freeform 6">
            <a:extLst>
              <a:ext uri="{FF2B5EF4-FFF2-40B4-BE49-F238E27FC236}">
                <a16:creationId xmlns:a16="http://schemas.microsoft.com/office/drawing/2014/main" id="{074D0BE7-DDD8-46AB-A2C1-5B7FFD921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113971" y="1685652"/>
            <a:ext cx="2456260" cy="4408488"/>
          </a:xfrm>
          <a:custGeom>
            <a:avLst/>
            <a:gdLst/>
            <a:ahLst/>
            <a:cxnLst/>
            <a:rect l="l" t="t" r="r" b="b"/>
            <a:pathLst>
              <a:path w="10000" h="10000">
                <a:moveTo>
                  <a:pt x="8761" y="0"/>
                </a:move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lnTo>
                  <a:pt x="0" y="9126"/>
                </a:lnTo>
                <a:lnTo>
                  <a:pt x="8761" y="9127"/>
                </a:lnTo>
                <a:lnTo>
                  <a:pt x="8761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788454"/>
            <a:ext cx="6270921" cy="2098226"/>
          </a:xfrm>
        </p:spPr>
        <p:txBody>
          <a:bodyPr>
            <a:normAutofit/>
          </a:bodyPr>
          <a:lstStyle/>
          <a:p>
            <a:r>
              <a:rPr lang="pt-BR" sz="4700" noProof="0"/>
              <a:t>NPS Preditivo — Tech </a:t>
            </a:r>
            <a:r>
              <a:rPr lang="pt-BR" sz="4700" noProof="0" err="1"/>
              <a:t>Challenge</a:t>
            </a:r>
            <a:r>
              <a:rPr lang="pt-BR" sz="4700" noProof="0"/>
              <a:t> Fase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29" y="3956279"/>
            <a:ext cx="5123755" cy="108623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BR" noProof="0" dirty="0">
                <a:solidFill>
                  <a:srgbClr val="191B0E"/>
                </a:solidFill>
              </a:rPr>
              <a:t>E-commerce: da operação à experiência do cliente</a:t>
            </a:r>
          </a:p>
          <a:p>
            <a:pPr>
              <a:spcAft>
                <a:spcPts val="600"/>
              </a:spcAft>
            </a:pPr>
            <a:r>
              <a:rPr lang="pt-BR" b="1" i="1" noProof="0" dirty="0">
                <a:solidFill>
                  <a:srgbClr val="191B0E"/>
                </a:solidFill>
              </a:rPr>
              <a:t>FIAP</a:t>
            </a:r>
            <a:r>
              <a:rPr lang="pt-BR" b="1" i="1" dirty="0">
                <a:solidFill>
                  <a:srgbClr val="191B0E"/>
                </a:solidFill>
              </a:rPr>
              <a:t> – Raphael Reis – 01.05.2026</a:t>
            </a:r>
            <a:endParaRPr lang="pt-BR" noProof="0" dirty="0">
              <a:solidFill>
                <a:srgbClr val="191B0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160336"/>
            <a:ext cx="6172200" cy="1143000"/>
          </a:xfrm>
        </p:spPr>
        <p:txBody>
          <a:bodyPr>
            <a:normAutofit/>
          </a:bodyPr>
          <a:lstStyle/>
          <a:p>
            <a:pPr algn="ctr"/>
            <a:r>
              <a:rPr lang="pt-BR" noProof="0" dirty="0"/>
              <a:t>Contexto do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269" y="1166018"/>
            <a:ext cx="7123262" cy="4525963"/>
          </a:xfrm>
        </p:spPr>
        <p:txBody>
          <a:bodyPr/>
          <a:lstStyle/>
          <a:p>
            <a:pPr>
              <a:defRPr sz="2000"/>
            </a:pPr>
            <a:r>
              <a:rPr lang="pt-BR" noProof="0" dirty="0"/>
              <a:t>E-commerce em crescimento: mais pedidos, entregas e interações.</a:t>
            </a:r>
          </a:p>
          <a:p>
            <a:pPr>
              <a:defRPr sz="2000"/>
            </a:pPr>
            <a:r>
              <a:rPr lang="pt-BR" noProof="0" dirty="0"/>
              <a:t>NPS varia muito entre clientes — e a pesquisa só vem no fim da jornada.</a:t>
            </a:r>
          </a:p>
          <a:p>
            <a:pPr>
              <a:defRPr sz="2000"/>
            </a:pPr>
            <a:r>
              <a:rPr lang="pt-BR" noProof="0" dirty="0"/>
              <a:t>Consequência: a empresa reage tarde; queremos antecipar problemas.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424" y="174507"/>
            <a:ext cx="7814893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Perguntas que orientam a análise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6391" y="1263771"/>
            <a:ext cx="8123926" cy="4525963"/>
          </a:xfrm>
        </p:spPr>
        <p:txBody>
          <a:bodyPr/>
          <a:lstStyle/>
          <a:p>
            <a:pPr>
              <a:defRPr sz="2000"/>
            </a:pPr>
            <a:r>
              <a:rPr lang="pt-BR" noProof="0" dirty="0"/>
              <a:t>Quais fatores operacionais mais explicam o NPS?</a:t>
            </a:r>
          </a:p>
          <a:p>
            <a:pPr>
              <a:defRPr sz="2000"/>
            </a:pPr>
            <a:r>
              <a:rPr lang="pt-BR" noProof="0" dirty="0"/>
              <a:t>Onde estão os detratores e qual o “ponto de ruptura” da experiência?</a:t>
            </a:r>
          </a:p>
          <a:p>
            <a:pPr>
              <a:defRPr sz="2000"/>
            </a:pPr>
            <a:r>
              <a:rPr lang="pt-BR" noProof="0" dirty="0"/>
              <a:t>(Complemento) Qual pedido tem maior risco de NPS baixo antes da pesquisa?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07AE3-24DC-E0E5-90F8-08282B66B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FC86A-F50D-7317-70C8-986E4404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C5E78-EE57-D9C0-35B8-D76938386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28" y="1375477"/>
            <a:ext cx="7858447" cy="1358198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noProof="0" dirty="0"/>
              <a:t>Base com ~2.500 pedidos: </a:t>
            </a:r>
          </a:p>
          <a:p>
            <a:pPr lvl="1">
              <a:defRPr sz="2000"/>
            </a:pPr>
            <a:r>
              <a:rPr lang="pt-BR" noProof="0" dirty="0"/>
              <a:t>NPS médio baixo;</a:t>
            </a:r>
          </a:p>
          <a:p>
            <a:pPr lvl="1">
              <a:defRPr sz="2000"/>
            </a:pPr>
            <a:r>
              <a:rPr lang="pt-BR" noProof="0" dirty="0"/>
              <a:t>Predominância de detratores na escala de 0 a 10.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5D34593-735C-EB69-0E4F-CAC8307E0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229" y="2612470"/>
            <a:ext cx="4377450" cy="213098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852B777-A179-BC2E-F84D-A15D533AE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502" y="3725314"/>
            <a:ext cx="3925699" cy="2566286"/>
          </a:xfrm>
          <a:prstGeom prst="rect">
            <a:avLst/>
          </a:prstGeom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4246FF9A-34AD-0A00-3683-C8D3F1ED4B6F}"/>
              </a:ext>
            </a:extLst>
          </p:cNvPr>
          <p:cNvCxnSpPr/>
          <p:nvPr/>
        </p:nvCxnSpPr>
        <p:spPr>
          <a:xfrm>
            <a:off x="5076502" y="2990850"/>
            <a:ext cx="7337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A16B922D-7CE7-78A2-7A0C-ABD3272CBD27}"/>
              </a:ext>
            </a:extLst>
          </p:cNvPr>
          <p:cNvCxnSpPr>
            <a:cxnSpLocks/>
          </p:cNvCxnSpPr>
          <p:nvPr/>
        </p:nvCxnSpPr>
        <p:spPr>
          <a:xfrm flipH="1">
            <a:off x="4197948" y="5558722"/>
            <a:ext cx="7481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9BA1781-4ADB-BA3C-B839-926634608554}"/>
              </a:ext>
            </a:extLst>
          </p:cNvPr>
          <p:cNvSpPr txBox="1"/>
          <p:nvPr/>
        </p:nvSpPr>
        <p:spPr>
          <a:xfrm>
            <a:off x="5932353" y="2806184"/>
            <a:ext cx="2030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NPS Médio = 4,38</a:t>
            </a:r>
          </a:p>
        </p:txBody>
      </p:sp>
      <p:graphicFrame>
        <p:nvGraphicFramePr>
          <p:cNvPr id="15" name="Tabela 14">
            <a:extLst>
              <a:ext uri="{FF2B5EF4-FFF2-40B4-BE49-F238E27FC236}">
                <a16:creationId xmlns:a16="http://schemas.microsoft.com/office/drawing/2014/main" id="{D469371E-8464-E225-8B5D-A7B2FE1B3E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1852557"/>
              </p:ext>
            </p:extLst>
          </p:nvPr>
        </p:nvGraphicFramePr>
        <p:xfrm>
          <a:off x="1714500" y="4956742"/>
          <a:ext cx="2352998" cy="12039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176499">
                  <a:extLst>
                    <a:ext uri="{9D8B030D-6E8A-4147-A177-3AD203B41FA5}">
                      <a16:colId xmlns:a16="http://schemas.microsoft.com/office/drawing/2014/main" val="3644166253"/>
                    </a:ext>
                  </a:extLst>
                </a:gridCol>
                <a:gridCol w="1176499">
                  <a:extLst>
                    <a:ext uri="{9D8B030D-6E8A-4147-A177-3AD203B41FA5}">
                      <a16:colId xmlns:a16="http://schemas.microsoft.com/office/drawing/2014/main" val="430953295"/>
                    </a:ext>
                  </a:extLst>
                </a:gridCol>
              </a:tblGrid>
              <a:tr h="24477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b="1">
                          <a:effectLst/>
                        </a:rPr>
                        <a:t>Categoria</a:t>
                      </a:r>
                    </a:p>
                  </a:txBody>
                  <a:tcPr marL="85725" marR="857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b="1">
                          <a:effectLst/>
                        </a:rPr>
                        <a:t>Quantidade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118441413"/>
                  </a:ext>
                </a:extLst>
              </a:tr>
              <a:tr h="244776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Detratores</a:t>
                      </a:r>
                    </a:p>
                  </a:txBody>
                  <a:tcPr marL="85725" marR="85725" marT="47625" marB="47625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2109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1501540868"/>
                  </a:ext>
                </a:extLst>
              </a:tr>
              <a:tr h="244776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Neutros</a:t>
                      </a:r>
                    </a:p>
                  </a:txBody>
                  <a:tcPr marL="85725" marR="85725" marT="47625" marB="47625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281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3869073880"/>
                  </a:ext>
                </a:extLst>
              </a:tr>
              <a:tr h="244776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Promotores</a:t>
                      </a:r>
                    </a:p>
                  </a:txBody>
                  <a:tcPr marL="85725" marR="85725" marT="47625" marB="47625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110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3443633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9582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0228" y="1375476"/>
            <a:ext cx="7858447" cy="4525963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noProof="0" dirty="0"/>
              <a:t>Atraso na entrega: </a:t>
            </a:r>
          </a:p>
          <a:p>
            <a:pPr lvl="1">
              <a:defRPr sz="2000"/>
            </a:pPr>
            <a:r>
              <a:rPr lang="pt-BR" noProof="0" dirty="0"/>
              <a:t>Quando não há atraso, a nota média é muito maior; </a:t>
            </a:r>
          </a:p>
          <a:p>
            <a:pPr lvl="1">
              <a:defRPr sz="2000"/>
            </a:pPr>
            <a:r>
              <a:rPr lang="pt-BR" noProof="0" dirty="0"/>
              <a:t>Com 4+ dias de atraso, a nota despenca.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D9E3E79-2908-EAE8-8BDA-0141FFC88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157" y="2800350"/>
            <a:ext cx="6545135" cy="320021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1C78-16F0-1411-AFE2-00422907E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B1B2D-D5A0-7FCC-28EC-2EA804D3D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FB212-D04C-9121-DBD4-CAD088ECE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28" y="1375476"/>
            <a:ext cx="7858447" cy="4525963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noProof="0" dirty="0"/>
              <a:t>Reclamações e contatos com atendimento acompanham queda forte do NPS.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9C1848E-532D-F9F7-10B0-B55B21769D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516" y="2278812"/>
            <a:ext cx="7725256" cy="2719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498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FA057-2AD0-C0AF-2073-30EC0A0F8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8CDCB-D170-867B-0326-C902DB1C3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1DF17-3E5B-4A9D-0DD3-6DD78A0CD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28" y="1375476"/>
            <a:ext cx="8306122" cy="4525963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noProof="0" dirty="0"/>
              <a:t>Regiões: </a:t>
            </a:r>
          </a:p>
          <a:p>
            <a:pPr lvl="1">
              <a:defRPr sz="2000"/>
            </a:pPr>
            <a:r>
              <a:rPr lang="pt-BR" noProof="0" dirty="0"/>
              <a:t>Pouca diferença entre regiões.</a:t>
            </a:r>
          </a:p>
          <a:p>
            <a:pPr lvl="1">
              <a:defRPr sz="2000"/>
            </a:pPr>
            <a:r>
              <a:rPr lang="pt-BR" noProof="0" dirty="0"/>
              <a:t>O gargalo </a:t>
            </a:r>
            <a:r>
              <a:rPr lang="pt-BR" dirty="0"/>
              <a:t>está mais ligada a </a:t>
            </a:r>
            <a:r>
              <a:rPr lang="pt-BR" noProof="0" dirty="0"/>
              <a:t>execução de modo geral, não localizado em regiões.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358F9AB-FB68-3303-00E1-416B9DCD3F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2457289" y="3000952"/>
            <a:ext cx="4572000" cy="321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27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690" y="171450"/>
            <a:ext cx="8604310" cy="1143000"/>
          </a:xfrm>
        </p:spPr>
        <p:txBody>
          <a:bodyPr>
            <a:normAutofit/>
          </a:bodyPr>
          <a:lstStyle/>
          <a:p>
            <a:pPr algn="ctr"/>
            <a:r>
              <a:rPr lang="pt-BR" sz="3600" noProof="0" dirty="0"/>
              <a:t>Fatores que mais impactam a satisfação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5826" y="1505310"/>
            <a:ext cx="8134710" cy="4525963"/>
          </a:xfrm>
        </p:spPr>
        <p:txBody>
          <a:bodyPr/>
          <a:lstStyle/>
          <a:p>
            <a:pPr>
              <a:defRPr sz="2000"/>
            </a:pPr>
            <a:r>
              <a:rPr lang="pt-BR" noProof="0" dirty="0"/>
              <a:t>CSAT interno acompanha o NPS — bom alinhamento de indicadores, mas grande dispersão: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6E6D82C-BEF3-58E2-3F06-6EAD5484D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231" y="2297834"/>
            <a:ext cx="4762499" cy="392429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73F90CD-0D3D-6D24-4BAA-B35774D0A819}"/>
              </a:ext>
            </a:extLst>
          </p:cNvPr>
          <p:cNvSpPr txBox="1"/>
          <p:nvPr/>
        </p:nvSpPr>
        <p:spPr>
          <a:xfrm>
            <a:off x="689979" y="2891128"/>
            <a:ext cx="32385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Os dois indicadores caminham juntos na maior parte dos casos, mas não são a mesma coisa — por isso precisamos dos dois e de um melhor entendimento da operação.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224F9-ADCA-645B-0FB1-B15FAF2F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9E095-E953-1B02-2AD5-1B957F185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690" y="171450"/>
            <a:ext cx="8604310" cy="1143000"/>
          </a:xfrm>
        </p:spPr>
        <p:txBody>
          <a:bodyPr>
            <a:normAutofit/>
          </a:bodyPr>
          <a:lstStyle/>
          <a:p>
            <a:pPr algn="ctr"/>
            <a:r>
              <a:rPr lang="pt-BR" sz="3600" noProof="0" dirty="0"/>
              <a:t>Fatores que mais impactam a satisfação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E23A3-4847-118C-7423-CE73E7660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826" y="1505310"/>
            <a:ext cx="8134710" cy="4525963"/>
          </a:xfrm>
        </p:spPr>
        <p:txBody>
          <a:bodyPr/>
          <a:lstStyle/>
          <a:p>
            <a:pPr>
              <a:defRPr sz="2000"/>
            </a:pPr>
            <a:r>
              <a:rPr lang="pt-BR" noProof="0" dirty="0"/>
              <a:t>Logística: dias de atraso e tentativas de entrega.</a:t>
            </a:r>
          </a:p>
          <a:p>
            <a:pPr>
              <a:defRPr sz="2000"/>
            </a:pPr>
            <a:r>
              <a:rPr lang="pt-BR" noProof="0" dirty="0"/>
              <a:t>Qualidade / volume de reclamações e tempo de resolução.</a:t>
            </a:r>
          </a:p>
          <a:p>
            <a:pPr>
              <a:defRPr sz="2000"/>
            </a:pPr>
            <a:r>
              <a:rPr lang="pt-BR" noProof="0" dirty="0"/>
              <a:t>Pressão no SAC: cada contato extra sinaliza jornada problemática.</a:t>
            </a:r>
          </a:p>
          <a:p>
            <a:pPr>
              <a:defRPr sz="2000"/>
            </a:pPr>
            <a:r>
              <a:rPr lang="pt-BR" noProof="0" dirty="0"/>
              <a:t>CSAT interno acompanha o NPS — bom alinhamento de indicadores.</a:t>
            </a:r>
          </a:p>
        </p:txBody>
      </p:sp>
    </p:spTree>
    <p:extLst>
      <p:ext uri="{BB962C8B-B14F-4D97-AF65-F5344CB8AC3E}">
        <p14:creationId xmlns:p14="http://schemas.microsoft.com/office/powerpoint/2010/main" val="23514520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0"/>
            <a:ext cx="6172200" cy="1143000"/>
          </a:xfrm>
        </p:spPr>
        <p:txBody>
          <a:bodyPr>
            <a:normAutofit/>
          </a:bodyPr>
          <a:lstStyle/>
          <a:p>
            <a:r>
              <a:rPr lang="pt-BR" noProof="0"/>
              <a:t>Recomendações práticas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496" y="1600201"/>
            <a:ext cx="8249009" cy="4525963"/>
          </a:xfrm>
        </p:spPr>
        <p:txBody>
          <a:bodyPr/>
          <a:lstStyle/>
          <a:p>
            <a:pPr>
              <a:defRPr sz="2000"/>
            </a:pPr>
            <a:r>
              <a:rPr lang="pt-BR" noProof="0"/>
              <a:t>Plano de ação para atraso ≥ 4 dias: comunicação proativa + compensação.</a:t>
            </a:r>
          </a:p>
          <a:p>
            <a:pPr>
              <a:defRPr sz="2000"/>
            </a:pPr>
            <a:r>
              <a:rPr lang="pt-BR" noProof="0" dirty="0"/>
              <a:t>Priorizar root-cause de reclamações:</a:t>
            </a:r>
          </a:p>
          <a:p>
            <a:pPr lvl="1">
              <a:defRPr sz="2000"/>
            </a:pPr>
            <a:r>
              <a:rPr lang="pt-BR" noProof="0" dirty="0"/>
              <a:t>Embalagem.</a:t>
            </a:r>
          </a:p>
          <a:p>
            <a:pPr lvl="1">
              <a:defRPr sz="2000"/>
            </a:pPr>
            <a:r>
              <a:rPr lang="pt-BR" noProof="0" dirty="0"/>
              <a:t>Transportadora.</a:t>
            </a:r>
          </a:p>
          <a:p>
            <a:pPr lvl="1">
              <a:defRPr sz="2000"/>
            </a:pPr>
            <a:r>
              <a:rPr lang="pt-BR" noProof="0" dirty="0"/>
              <a:t>Promessa.</a:t>
            </a:r>
          </a:p>
          <a:p>
            <a:pPr lvl="1">
              <a:defRPr sz="2000"/>
            </a:pPr>
            <a:r>
              <a:rPr lang="pt-BR" noProof="0" dirty="0"/>
              <a:t>Produto</a:t>
            </a:r>
          </a:p>
          <a:p>
            <a:pPr>
              <a:defRPr sz="2000"/>
            </a:pPr>
            <a:r>
              <a:rPr lang="pt-BR" noProof="0" dirty="0"/>
              <a:t>Reduzir necessidade de contato: rastreio claro e expectativa de prazo.</a:t>
            </a:r>
          </a:p>
          <a:p>
            <a:pPr>
              <a:defRPr sz="2000"/>
            </a:pPr>
            <a:r>
              <a:rPr lang="pt-BR" noProof="0" dirty="0"/>
              <a:t>Pilotar fila de risco com score preditivo antes da pesquisa NPS.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6275" y="0"/>
            <a:ext cx="7511451" cy="1143000"/>
          </a:xfrm>
        </p:spPr>
        <p:txBody>
          <a:bodyPr>
            <a:normAutofit/>
          </a:bodyPr>
          <a:lstStyle/>
          <a:p>
            <a:r>
              <a:rPr lang="pt-BR" noProof="0" dirty="0"/>
              <a:t>Modelo preditivo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3540" y="1246518"/>
            <a:ext cx="7696919" cy="4525963"/>
          </a:xfrm>
        </p:spPr>
        <p:txBody>
          <a:bodyPr/>
          <a:lstStyle/>
          <a:p>
            <a:pPr>
              <a:defRPr sz="2000"/>
            </a:pPr>
            <a:r>
              <a:rPr lang="pt-BR" noProof="0" dirty="0"/>
              <a:t>Usa dados de pedido, logística e atendimento para estimar o NPS.</a:t>
            </a:r>
          </a:p>
          <a:p>
            <a:pPr>
              <a:defRPr sz="2000"/>
            </a:pPr>
            <a:r>
              <a:rPr lang="pt-BR" noProof="0" dirty="0"/>
              <a:t>Ajuda a priorizar onde logística e SAC agem antes da pesquisa.</a:t>
            </a:r>
          </a:p>
          <a:p>
            <a:pPr>
              <a:defRPr sz="2000"/>
            </a:pPr>
            <a:r>
              <a:rPr lang="pt-BR" noProof="0" dirty="0"/>
              <a:t>Variáveis mais relevantes: atraso, reclamações e sinais de fricção no atendimento.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B669CA6-D147-16CB-02FD-C5849A4F87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584" y="2767023"/>
            <a:ext cx="3536831" cy="35223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0"/>
            <a:ext cx="6172200" cy="1143000"/>
          </a:xfrm>
        </p:spPr>
        <p:txBody>
          <a:bodyPr/>
          <a:lstStyle/>
          <a:p>
            <a:r>
              <a:rPr lang="pt-BR" noProof="0"/>
              <a:t>Limitações e riscos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737" y="1600201"/>
            <a:ext cx="8352526" cy="4525963"/>
          </a:xfrm>
        </p:spPr>
        <p:txBody>
          <a:bodyPr/>
          <a:lstStyle/>
          <a:p>
            <a:pPr>
              <a:defRPr sz="2000"/>
            </a:pPr>
            <a:r>
              <a:rPr lang="pt-BR" noProof="0"/>
              <a:t>Correlação não implica causa: validar com pilotos e experimentos.</a:t>
            </a:r>
          </a:p>
          <a:p>
            <a:pPr>
              <a:defRPr sz="2000"/>
            </a:pPr>
            <a:r>
              <a:rPr lang="pt-BR" noProof="0" dirty="0"/>
              <a:t>Modelo pode mudar com sazonalidade, greves ou mudança de transportadora.</a:t>
            </a:r>
          </a:p>
          <a:p>
            <a:pPr>
              <a:defRPr sz="2000"/>
            </a:pPr>
            <a:r>
              <a:rPr lang="pt-BR" noProof="0" dirty="0"/>
              <a:t>Uso responsável: apoio à decisão, não punição automática de times ou clientes.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0"/>
            <a:ext cx="6172200" cy="1143000"/>
          </a:xfrm>
        </p:spPr>
        <p:txBody>
          <a:bodyPr/>
          <a:lstStyle/>
          <a:p>
            <a:r>
              <a:rPr lang="pt-BR" noProof="0"/>
              <a:t>Próximos passos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521" y="1181820"/>
            <a:ext cx="8688957" cy="4525963"/>
          </a:xfrm>
        </p:spPr>
        <p:txBody>
          <a:bodyPr/>
          <a:lstStyle/>
          <a:p>
            <a:pPr>
              <a:defRPr sz="2000"/>
            </a:pPr>
            <a:r>
              <a:rPr dirty="0" err="1"/>
              <a:t>Inserir</a:t>
            </a:r>
            <a:r>
              <a:rPr dirty="0"/>
              <a:t> </a:t>
            </a:r>
            <a:r>
              <a:rPr dirty="0" err="1"/>
              <a:t>nos</a:t>
            </a:r>
            <a:r>
              <a:rPr dirty="0"/>
              <a:t> slides as </a:t>
            </a:r>
            <a:r>
              <a:rPr dirty="0" err="1"/>
              <a:t>figuras</a:t>
            </a:r>
            <a:r>
              <a:rPr dirty="0"/>
              <a:t> da pasta reports/ (</a:t>
            </a:r>
            <a:r>
              <a:rPr dirty="0" err="1"/>
              <a:t>gráficos</a:t>
            </a:r>
            <a:r>
              <a:rPr dirty="0"/>
              <a:t> da EDA e do </a:t>
            </a:r>
            <a:r>
              <a:rPr dirty="0" err="1"/>
              <a:t>modelo</a:t>
            </a:r>
            <a:r>
              <a:rPr dirty="0"/>
              <a:t>).</a:t>
            </a:r>
          </a:p>
          <a:p>
            <a:pPr>
              <a:defRPr sz="2000"/>
            </a:pPr>
            <a:r>
              <a:rPr dirty="0" err="1"/>
              <a:t>Definir</a:t>
            </a:r>
            <a:r>
              <a:rPr dirty="0"/>
              <a:t> </a:t>
            </a:r>
            <a:r>
              <a:rPr dirty="0" err="1"/>
              <a:t>piloto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região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categoria</a:t>
            </a:r>
            <a:r>
              <a:rPr dirty="0"/>
              <a:t> e </a:t>
            </a:r>
            <a:r>
              <a:rPr dirty="0" err="1"/>
              <a:t>acompanhar</a:t>
            </a:r>
            <a:r>
              <a:rPr dirty="0"/>
              <a:t> NPS real vs </a:t>
            </a:r>
            <a:r>
              <a:rPr dirty="0" err="1"/>
              <a:t>predito</a:t>
            </a:r>
            <a:r>
              <a:rPr dirty="0"/>
              <a:t>.</a:t>
            </a:r>
          </a:p>
          <a:p>
            <a:pPr>
              <a:defRPr sz="2000"/>
            </a:pPr>
            <a:r>
              <a:rPr dirty="0" err="1"/>
              <a:t>Alinhar</a:t>
            </a:r>
            <a:r>
              <a:rPr dirty="0"/>
              <a:t> OKRs de </a:t>
            </a:r>
            <a:r>
              <a:rPr dirty="0" err="1"/>
              <a:t>logística</a:t>
            </a:r>
            <a:r>
              <a:rPr dirty="0"/>
              <a:t> e SAC </a:t>
            </a:r>
            <a:r>
              <a:rPr dirty="0" err="1"/>
              <a:t>às</a:t>
            </a:r>
            <a:r>
              <a:rPr dirty="0"/>
              <a:t> </a:t>
            </a:r>
            <a:r>
              <a:rPr dirty="0" err="1"/>
              <a:t>alavancas</a:t>
            </a:r>
            <a:r>
              <a:rPr dirty="0"/>
              <a:t> </a:t>
            </a:r>
            <a:r>
              <a:rPr dirty="0" err="1"/>
              <a:t>identificadas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tar">
  <a:themeElements>
    <a:clrScheme name="Cortar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ortar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orta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TM10001105[[fn=Cortar]]</Template>
  <TotalTime>296</TotalTime>
  <Words>491</Words>
  <Application>Microsoft Office PowerPoint</Application>
  <PresentationFormat>Apresentação na tela (4:3)</PresentationFormat>
  <Paragraphs>63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5" baseType="lpstr">
      <vt:lpstr>Franklin Gothic Book</vt:lpstr>
      <vt:lpstr>Cortar</vt:lpstr>
      <vt:lpstr>NPS Preditivo — Tech Challenge Fase 1</vt:lpstr>
      <vt:lpstr>Contexto do problema</vt:lpstr>
      <vt:lpstr>Perguntas que orientam a análise</vt:lpstr>
      <vt:lpstr>Principais insights da EDA</vt:lpstr>
      <vt:lpstr>Principais insights da EDA</vt:lpstr>
      <vt:lpstr>Principais insights da EDA</vt:lpstr>
      <vt:lpstr>Principais insights da EDA</vt:lpstr>
      <vt:lpstr>Fatores que mais impactam a satisfação</vt:lpstr>
      <vt:lpstr>Fatores que mais impactam a satisfação</vt:lpstr>
      <vt:lpstr>Recomendações práticas</vt:lpstr>
      <vt:lpstr>Modelo preditivo</vt:lpstr>
      <vt:lpstr>Limitações e riscos</vt:lpstr>
      <vt:lpstr>Próximos passos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Raphael Reis</cp:lastModifiedBy>
  <cp:revision>4</cp:revision>
  <dcterms:created xsi:type="dcterms:W3CDTF">2013-01-27T09:14:16Z</dcterms:created>
  <dcterms:modified xsi:type="dcterms:W3CDTF">2026-05-04T18:27:13Z</dcterms:modified>
  <cp:category/>
</cp:coreProperties>
</file>